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556500" cy="10693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DFE"/>
    <a:srgbClr val="F2F7F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331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13" Type="http://schemas.openxmlformats.org/officeDocument/2006/relationships/image" Target="../media/image24.jpe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12" Type="http://schemas.openxmlformats.org/officeDocument/2006/relationships/image" Target="../media/image23.jpeg"/><Relationship Id="rId17" Type="http://schemas.openxmlformats.org/officeDocument/2006/relationships/image" Target="../media/image28.jpeg"/><Relationship Id="rId2" Type="http://schemas.openxmlformats.org/officeDocument/2006/relationships/image" Target="../media/image13.jpeg"/><Relationship Id="rId16" Type="http://schemas.openxmlformats.org/officeDocument/2006/relationships/image" Target="../media/image2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11" Type="http://schemas.openxmlformats.org/officeDocument/2006/relationships/image" Target="../media/image22.jpeg"/><Relationship Id="rId5" Type="http://schemas.openxmlformats.org/officeDocument/2006/relationships/image" Target="../media/image16.jpeg"/><Relationship Id="rId15" Type="http://schemas.openxmlformats.org/officeDocument/2006/relationships/image" Target="../media/image26.jpeg"/><Relationship Id="rId10" Type="http://schemas.openxmlformats.org/officeDocument/2006/relationships/image" Target="../media/image21.jpeg"/><Relationship Id="rId4" Type="http://schemas.openxmlformats.org/officeDocument/2006/relationships/image" Target="../media/image15.jpeg"/><Relationship Id="rId9" Type="http://schemas.openxmlformats.org/officeDocument/2006/relationships/image" Target="../media/image20.jpeg"/><Relationship Id="rId1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56500" cy="106934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244625" y="5943611"/>
            <a:ext cx="3293745" cy="20135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1200" kern="0" spc="-20" dirty="0">
                <a:solidFill>
                  <a:srgbClr val="108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语音交互查询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446"/>
              </a:spcBef>
              <a:tabLst/>
            </a:pPr>
            <a:r>
              <a:rPr lang="zh-CN" altLang="en-US" sz="900" kern="0" spc="120" dirty="0">
                <a:solidFill>
                  <a:srgbClr val="307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</a:t>
            </a:r>
            <a:r>
              <a:rPr sz="900" kern="0" spc="120" dirty="0" err="1">
                <a:solidFill>
                  <a:srgbClr val="307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能理解+意图精准匹配+多轮对话+知识库全覆盖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361"/>
              </a:spcBef>
              <a:tabLst/>
            </a:pPr>
            <a:r>
              <a:rPr sz="1200" kern="0" spc="-20" dirty="0">
                <a:solidFill>
                  <a:srgbClr val="107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智能精准转接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451"/>
              </a:spcBef>
              <a:tabLst/>
            </a:pPr>
            <a:r>
              <a:rPr sz="900" kern="0" spc="150" dirty="0">
                <a:solidFill>
                  <a:srgbClr val="207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精准诉求同步+无错转+智能人机协作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82"/>
              </a:spcBef>
              <a:tabLst/>
            </a:pPr>
            <a:r>
              <a:rPr sz="1200" kern="0" spc="-40" dirty="0" err="1">
                <a:solidFill>
                  <a:srgbClr val="108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数据可视化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900" kern="0" spc="90" dirty="0">
                <a:solidFill>
                  <a:srgbClr val="207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实时呼叫量、自助成功率、</a:t>
            </a:r>
            <a:r>
              <a:rPr sz="900" kern="0" spc="80" dirty="0">
                <a:solidFill>
                  <a:srgbClr val="207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高频咨询</a:t>
            </a:r>
            <a:r>
              <a:rPr sz="900" kern="0" spc="-170" dirty="0">
                <a:solidFill>
                  <a:srgbClr val="207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0" dirty="0">
                <a:solidFill>
                  <a:srgbClr val="207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TOP</a:t>
            </a:r>
            <a:r>
              <a:rPr sz="900" kern="0" spc="80" dirty="0">
                <a:solidFill>
                  <a:srgbClr val="207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5,  </a:t>
            </a:r>
            <a:r>
              <a:rPr sz="900" kern="0" spc="80" dirty="0" err="1">
                <a:solidFill>
                  <a:srgbClr val="207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支撑运营决策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95856" y="5772190"/>
            <a:ext cx="1060479" cy="107308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51547" y="6966001"/>
            <a:ext cx="1098564" cy="1130292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76936" y="5784808"/>
            <a:ext cx="1054131" cy="105415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76813" y="6972310"/>
            <a:ext cx="1092216" cy="1117566"/>
          </a:xfrm>
          <a:prstGeom prst="rect">
            <a:avLst/>
          </a:prstGeom>
        </p:spPr>
      </p:pic>
      <p:graphicFrame>
        <p:nvGraphicFramePr>
          <p:cNvPr id="14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863547"/>
              </p:ext>
            </p:extLst>
          </p:nvPr>
        </p:nvGraphicFramePr>
        <p:xfrm>
          <a:off x="4876813" y="5380526"/>
          <a:ext cx="2272664" cy="2715260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9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52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26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800" kern="0" spc="40" dirty="0">
                          <a:solidFill>
                            <a:srgbClr val="20A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价值量化</a:t>
                      </a:r>
                      <a:endParaRPr sz="1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314" algn="l" rtl="0" eaLnBrk="0">
                        <a:lnSpc>
                          <a:spcPct val="96000"/>
                        </a:lnSpc>
                        <a:spcBef>
                          <a:spcPts val="282"/>
                        </a:spcBef>
                        <a:tabLst/>
                      </a:pPr>
                      <a:r>
                        <a:rPr sz="900" b="1" kern="0" spc="1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imHei"/>
                          <a:ea typeface="SimHei"/>
                          <a:cs typeface="SimHei"/>
                        </a:rPr>
                        <a:t>人工成本降低</a:t>
                      </a:r>
                      <a:endParaRPr sz="9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07314" algn="l" rtl="0" eaLnBrk="0">
                        <a:lnSpc>
                          <a:spcPct val="77000"/>
                        </a:lnSpc>
                        <a:spcBef>
                          <a:spcPts val="996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/>
                          <a:ea typeface="Times New Roman"/>
                          <a:cs typeface="Times New Roman"/>
                        </a:rPr>
                        <a:t>60%</a:t>
                      </a:r>
                      <a:endParaRPr sz="18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107314" algn="l" rtl="0" eaLnBrk="0">
                        <a:lnSpc>
                          <a:spcPct val="96000"/>
                        </a:lnSpc>
                        <a:spcBef>
                          <a:spcPts val="748"/>
                        </a:spcBef>
                        <a:tabLst/>
                      </a:pPr>
                      <a:r>
                        <a:rPr sz="900" b="1" kern="0" spc="-8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imHei"/>
                          <a:ea typeface="SimHei"/>
                          <a:cs typeface="SimHei"/>
                        </a:rPr>
                        <a:t>减少坐席招聘</a:t>
                      </a:r>
                      <a:endParaRPr sz="9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07314" algn="l" rtl="0" eaLnBrk="0">
                        <a:lnSpc>
                          <a:spcPct val="96000"/>
                        </a:lnSpc>
                        <a:spcBef>
                          <a:spcPts val="620"/>
                        </a:spcBef>
                        <a:tabLst/>
                      </a:pPr>
                      <a:r>
                        <a:rPr sz="900" b="1" kern="0" spc="-7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imHei"/>
                          <a:ea typeface="SimHei"/>
                          <a:cs typeface="SimHei"/>
                        </a:rPr>
                        <a:t>与培训投入</a:t>
                      </a:r>
                      <a:endParaRPr sz="9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314" algn="l" rtl="0" eaLnBrk="0">
                        <a:lnSpc>
                          <a:spcPct val="96000"/>
                        </a:lnSpc>
                        <a:spcBef>
                          <a:spcPts val="279"/>
                        </a:spcBef>
                        <a:tabLst/>
                      </a:pPr>
                      <a:r>
                        <a:rPr lang="zh-CN" altLang="en-US" sz="900" b="1" kern="0" spc="13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imHei"/>
                          <a:ea typeface="SimHei"/>
                          <a:cs typeface="SimHei"/>
                        </a:rPr>
                        <a:t>客户</a:t>
                      </a:r>
                      <a:r>
                        <a:rPr sz="900" b="1" kern="0" spc="13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imHei"/>
                          <a:ea typeface="SimHei"/>
                          <a:cs typeface="SimHei"/>
                        </a:rPr>
                        <a:t>满意度</a:t>
                      </a:r>
                      <a:endParaRPr sz="9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07314" algn="l" rtl="0" eaLnBrk="0">
                        <a:lnSpc>
                          <a:spcPct val="77000"/>
                        </a:lnSpc>
                        <a:spcBef>
                          <a:spcPts val="775"/>
                        </a:spcBef>
                        <a:tabLst/>
                      </a:pPr>
                      <a:r>
                        <a:rPr sz="2400" b="1" kern="0" spc="-30" dirty="0">
                          <a:solidFill>
                            <a:srgbClr val="286040">
                              <a:alpha val="100000"/>
                            </a:srgb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/>
                          <a:ea typeface="Times New Roman"/>
                          <a:cs typeface="Times New Roman"/>
                        </a:rPr>
                        <a:t>92%</a:t>
                      </a:r>
                      <a:endParaRPr sz="2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107314" algn="l" rtl="0" eaLnBrk="0">
                        <a:lnSpc>
                          <a:spcPct val="95000"/>
                        </a:lnSpc>
                        <a:spcBef>
                          <a:spcPts val="125"/>
                        </a:spcBef>
                        <a:tabLst/>
                      </a:pPr>
                      <a:r>
                        <a:rPr sz="900" b="1" kern="0" spc="-80" dirty="0">
                          <a:solidFill>
                            <a:srgbClr val="306060">
                              <a:alpha val="100000"/>
                            </a:srgb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imHei"/>
                          <a:ea typeface="SimHei"/>
                          <a:cs typeface="SimHei"/>
                        </a:rPr>
                        <a:t>减少等待焦虑</a:t>
                      </a:r>
                      <a:endParaRPr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07314" algn="l" rtl="0" eaLnBrk="0">
                        <a:lnSpc>
                          <a:spcPct val="95000"/>
                        </a:lnSpc>
                        <a:spcBef>
                          <a:spcPts val="124"/>
                        </a:spcBef>
                        <a:tabLst/>
                      </a:pPr>
                      <a:r>
                        <a:rPr sz="900" b="1" kern="0" spc="-70" dirty="0">
                          <a:solidFill>
                            <a:srgbClr val="508070">
                              <a:alpha val="100000"/>
                            </a:srgb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imHei"/>
                          <a:ea typeface="SimHei"/>
                          <a:cs typeface="SimHei"/>
                        </a:rPr>
                        <a:t>服务更及时</a:t>
                      </a:r>
                      <a:endParaRPr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0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b="1" kern="0" spc="11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imHei"/>
                          <a:ea typeface="SimHei"/>
                          <a:cs typeface="SimHei"/>
                        </a:rPr>
                        <a:t>效率提升</a:t>
                      </a:r>
                      <a:endParaRPr sz="9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61925" algn="l" rtl="0" eaLnBrk="0">
                        <a:lnSpc>
                          <a:spcPct val="77000"/>
                        </a:lnSpc>
                        <a:spcBef>
                          <a:spcPts val="1009"/>
                        </a:spcBef>
                        <a:tabLst/>
                      </a:pPr>
                      <a:r>
                        <a:rPr sz="1800" b="1" kern="0" spc="-2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/>
                          <a:ea typeface="Times New Roman"/>
                          <a:cs typeface="Times New Roman"/>
                        </a:rPr>
                        <a:t>60%</a:t>
                      </a:r>
                      <a:endParaRPr sz="18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161925" algn="l" rtl="0" eaLnBrk="0">
                        <a:lnSpc>
                          <a:spcPct val="96000"/>
                        </a:lnSpc>
                        <a:spcBef>
                          <a:spcPts val="754"/>
                        </a:spcBef>
                        <a:tabLst/>
                      </a:pPr>
                      <a:r>
                        <a:rPr sz="900" b="1" kern="0" spc="-7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imHei"/>
                          <a:ea typeface="SimHei"/>
                          <a:cs typeface="SimHei"/>
                        </a:rPr>
                        <a:t>平均通话时长从</a:t>
                      </a:r>
                      <a:endParaRPr sz="9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61925" algn="l" rtl="0" eaLnBrk="0">
                        <a:lnSpc>
                          <a:spcPct val="87000"/>
                        </a:lnSpc>
                        <a:spcBef>
                          <a:spcPts val="109"/>
                        </a:spcBef>
                        <a:tabLst/>
                      </a:pPr>
                      <a:r>
                        <a:rPr sz="900" b="1" kern="0" spc="-5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imHei"/>
                          <a:ea typeface="SimHei"/>
                          <a:cs typeface="SimHei"/>
                        </a:rPr>
                        <a:t>5分钟缩短至2分钟</a:t>
                      </a:r>
                      <a:endParaRPr sz="9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61925" algn="l" rtl="0" eaLnBrk="0">
                        <a:lnSpc>
                          <a:spcPts val="627"/>
                        </a:lnSpc>
                        <a:tabLst/>
                      </a:pP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96000"/>
                        </a:lnSpc>
                        <a:spcBef>
                          <a:spcPts val="276"/>
                        </a:spcBef>
                        <a:tabLst/>
                      </a:pPr>
                      <a:r>
                        <a:rPr sz="900" b="1" kern="0" spc="18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imHei"/>
                          <a:ea typeface="SimHei"/>
                          <a:cs typeface="SimHei"/>
                        </a:rPr>
                        <a:t>呼叫接通率</a:t>
                      </a:r>
                      <a:endParaRPr sz="9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61925" algn="l" rtl="0" eaLnBrk="0">
                        <a:lnSpc>
                          <a:spcPct val="77000"/>
                        </a:lnSpc>
                        <a:spcBef>
                          <a:spcPts val="575"/>
                        </a:spcBef>
                        <a:tabLst/>
                      </a:pPr>
                      <a:r>
                        <a:rPr sz="2400" b="1" kern="0" spc="-3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/>
                          <a:ea typeface="Times New Roman"/>
                          <a:cs typeface="Times New Roman"/>
                        </a:rPr>
                        <a:t>99%</a:t>
                      </a:r>
                      <a:endParaRPr lang="en-US" sz="2400" b="1" kern="1200" spc="0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161925" algn="l" rtl="0" eaLnBrk="0">
                        <a:lnSpc>
                          <a:spcPct val="77000"/>
                        </a:lnSpc>
                        <a:spcBef>
                          <a:spcPts val="575"/>
                        </a:spcBef>
                        <a:tabLst/>
                      </a:pPr>
                      <a:r>
                        <a:rPr sz="900" b="1" kern="0" spc="-2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imHei"/>
                          <a:ea typeface="SimHei"/>
                          <a:cs typeface="SimHei"/>
                        </a:rPr>
                        <a:t>无占线</a:t>
                      </a:r>
                      <a:endParaRPr sz="9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61925" algn="l" rtl="0" eaLnBrk="0">
                        <a:lnSpc>
                          <a:spcPct val="95000"/>
                        </a:lnSpc>
                        <a:spcBef>
                          <a:spcPts val="188"/>
                        </a:spcBef>
                        <a:tabLst/>
                      </a:pPr>
                      <a:r>
                        <a:rPr sz="900" b="1" kern="0" spc="-5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imHei"/>
                          <a:ea typeface="SimHei"/>
                          <a:cs typeface="SimHei"/>
                        </a:rPr>
                        <a:t>服务无遗漏</a:t>
                      </a:r>
                      <a:endParaRPr sz="900" b="1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 16"/>
          <p:cNvSpPr/>
          <p:nvPr/>
        </p:nvSpPr>
        <p:spPr>
          <a:xfrm>
            <a:off x="603235" y="4108404"/>
            <a:ext cx="1822476" cy="882740"/>
          </a:xfrm>
          <a:prstGeom prst="rect">
            <a:avLst/>
          </a:prstGeom>
          <a:solidFill>
            <a:srgbClr val="E8FCF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82880" y="4108404"/>
            <a:ext cx="1809781" cy="895358"/>
          </a:xfrm>
          <a:prstGeom prst="rect">
            <a:avLst/>
          </a:prstGeom>
        </p:spPr>
      </p:pic>
      <p:graphicFrame>
        <p:nvGraphicFramePr>
          <p:cNvPr id="20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823060"/>
              </p:ext>
            </p:extLst>
          </p:nvPr>
        </p:nvGraphicFramePr>
        <p:xfrm>
          <a:off x="603235" y="3606776"/>
          <a:ext cx="4089400" cy="1396364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63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20A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零等待：智能呼叫分流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9750" algn="l" rtl="0" eaLnBrk="0">
                        <a:lnSpc>
                          <a:spcPct val="96000"/>
                        </a:lnSpc>
                        <a:spcBef>
                          <a:spcPts val="273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20B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人工总机呼叫拥堵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539750" algn="l" rtl="0" eaLnBrk="0">
                        <a:lnSpc>
                          <a:spcPct val="95000"/>
                        </a:lnSpc>
                        <a:spcBef>
                          <a:spcPts val="116"/>
                        </a:spcBef>
                        <a:tabLst/>
                      </a:pPr>
                      <a:r>
                        <a:rPr sz="900" kern="0" spc="40">
                          <a:solidFill>
                            <a:srgbClr val="20B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排队</a:t>
                      </a:r>
                      <a:r>
                        <a:rPr sz="900" kern="0" spc="40" dirty="0">
                          <a:solidFill>
                            <a:srgbClr val="20B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10分钟以上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539750" algn="l" rtl="0" eaLnBrk="0">
                        <a:lnSpc>
                          <a:spcPct val="92000"/>
                        </a:lnSpc>
                        <a:spcBef>
                          <a:spcPts val="629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20B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智能分流，并发处理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539750" algn="l" rtl="0" eaLnBrk="0">
                        <a:lnSpc>
                          <a:spcPct val="95000"/>
                        </a:lnSpc>
                        <a:spcBef>
                          <a:spcPts val="13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30B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无占线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20A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高效率：语音自助服务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0" algn="l" rtl="0" eaLnBrk="0">
                        <a:lnSpc>
                          <a:spcPct val="92000"/>
                        </a:lnSpc>
                        <a:spcBef>
                          <a:spcPts val="282"/>
                        </a:spcBef>
                        <a:tabLst/>
                      </a:pPr>
                      <a:r>
                        <a:rPr sz="900" kern="0" spc="-60" dirty="0">
                          <a:solidFill>
                            <a:srgbClr val="20B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人工重复解答高频问题，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571500" algn="l" rtl="0" eaLnBrk="0">
                        <a:lnSpc>
                          <a:spcPct val="95000"/>
                        </a:lnSpc>
                        <a:spcBef>
                          <a:spcPts val="15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20A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效率低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571500" algn="l" rtl="0" eaLnBrk="0">
                        <a:lnSpc>
                          <a:spcPct val="92000"/>
                        </a:lnSpc>
                        <a:spcBef>
                          <a:spcPts val="629"/>
                        </a:spcBef>
                        <a:tabLst/>
                      </a:pPr>
                      <a:r>
                        <a:rPr sz="900" kern="0" spc="40" dirty="0">
                          <a:solidFill>
                            <a:srgbClr val="20B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语音自助办理，80%</a:t>
                      </a:r>
                      <a:r>
                        <a:rPr sz="900" kern="0" spc="30" dirty="0">
                          <a:solidFill>
                            <a:srgbClr val="20B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业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571500" algn="l" rtl="0" eaLnBrk="0">
                        <a:lnSpc>
                          <a:spcPct val="95000"/>
                        </a:lnSpc>
                        <a:spcBef>
                          <a:spcPts val="252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20B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务无需人工介入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box 22"/>
          <p:cNvSpPr/>
          <p:nvPr/>
        </p:nvSpPr>
        <p:spPr>
          <a:xfrm>
            <a:off x="1581117" y="615161"/>
            <a:ext cx="4645659" cy="1076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95400" algn="l" rtl="0" eaLnBrk="0">
              <a:lnSpc>
                <a:spcPct val="96000"/>
              </a:lnSpc>
              <a:tabLst/>
            </a:pPr>
            <a:r>
              <a:rPr sz="36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智能总机</a:t>
            </a:r>
            <a:endParaRPr sz="3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800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让服务咨询“秒响应”</a:t>
            </a:r>
            <a:r>
              <a:rPr sz="1800" kern="0" spc="-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,让运营管理“更轻松”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5226070" y="2321724"/>
            <a:ext cx="1673860" cy="1675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9250" algn="l" rtl="0" eaLnBrk="0">
              <a:lnSpc>
                <a:spcPct val="72000"/>
              </a:lnSpc>
              <a:tabLst/>
            </a:pPr>
            <a:endParaRPr lang="zh-CN" altLang="en-US" sz="13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lang="zh-CN" altLang="en-US" sz="1200" kern="0" spc="90" dirty="0">
                <a:solidFill>
                  <a:srgbClr val="20A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精运营：服务数据洞察</a:t>
            </a:r>
            <a:endParaRPr lang="zh-CN" altLang="en-US" sz="1200" dirty="0">
              <a:latin typeface="SimHei"/>
              <a:ea typeface="SimHei"/>
              <a:cs typeface="SimHei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5124440" y="4102095"/>
            <a:ext cx="1841518" cy="895358"/>
            <a:chOff x="0" y="0"/>
            <a:chExt cx="1841518" cy="895358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1841518" cy="895358"/>
            </a:xfrm>
            <a:prstGeom prst="rect">
              <a:avLst/>
            </a:prstGeom>
          </p:spPr>
        </p:pic>
        <p:sp>
          <p:nvSpPr>
            <p:cNvPr id="28" name="textbox 28"/>
            <p:cNvSpPr/>
            <p:nvPr/>
          </p:nvSpPr>
          <p:spPr>
            <a:xfrm>
              <a:off x="-12700" y="-12700"/>
              <a:ext cx="1867535" cy="9366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577850" algn="l" rtl="0" eaLnBrk="0">
                <a:lnSpc>
                  <a:spcPct val="95000"/>
                </a:lnSpc>
                <a:spcBef>
                  <a:spcPts val="1"/>
                </a:spcBef>
                <a:tabLst/>
              </a:pPr>
              <a:r>
                <a:rPr sz="900" kern="0" spc="-10" dirty="0">
                  <a:solidFill>
                    <a:srgbClr val="20B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服务数据分散</a:t>
              </a:r>
              <a:endParaRPr sz="900" dirty="0">
                <a:latin typeface="SimHei"/>
                <a:ea typeface="SimHei"/>
                <a:cs typeface="SimHei"/>
              </a:endParaRPr>
            </a:p>
            <a:p>
              <a:pPr marL="577850" algn="l" rtl="0" eaLnBrk="0">
                <a:lnSpc>
                  <a:spcPct val="96000"/>
                </a:lnSpc>
                <a:spcBef>
                  <a:spcPts val="120"/>
                </a:spcBef>
                <a:tabLst/>
              </a:pPr>
              <a:r>
                <a:rPr sz="900" kern="0" spc="-10" dirty="0">
                  <a:solidFill>
                    <a:srgbClr val="20B0B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运营优化无依据</a:t>
              </a:r>
              <a:endParaRPr sz="900" dirty="0">
                <a:latin typeface="SimHei"/>
                <a:ea typeface="SimHei"/>
                <a:cs typeface="SimHei"/>
              </a:endParaRPr>
            </a:p>
            <a:p>
              <a:pPr marL="577850" algn="l" rtl="0" eaLnBrk="0">
                <a:lnSpc>
                  <a:spcPct val="96000"/>
                </a:lnSpc>
                <a:spcBef>
                  <a:spcPts val="614"/>
                </a:spcBef>
                <a:tabLst/>
              </a:pPr>
              <a:r>
                <a:rPr sz="900" kern="0" spc="-10" dirty="0">
                  <a:solidFill>
                    <a:srgbClr val="20B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实时数据监控</a:t>
              </a:r>
              <a:endParaRPr sz="900" dirty="0">
                <a:latin typeface="SimHei"/>
                <a:ea typeface="SimHei"/>
                <a:cs typeface="SimHei"/>
              </a:endParaRPr>
            </a:p>
            <a:p>
              <a:pPr marL="577850" algn="l" rtl="0" eaLnBrk="0">
                <a:lnSpc>
                  <a:spcPct val="96000"/>
                </a:lnSpc>
                <a:spcBef>
                  <a:spcPts val="113"/>
                </a:spcBef>
                <a:tabLst/>
              </a:pPr>
              <a:r>
                <a:rPr sz="900" kern="0" spc="-30" dirty="0">
                  <a:solidFill>
                    <a:srgbClr val="20B0B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可视化分析运营瓶颈</a:t>
              </a:r>
              <a:endParaRPr sz="9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30" name="textbox 30"/>
          <p:cNvSpPr/>
          <p:nvPr/>
        </p:nvSpPr>
        <p:spPr>
          <a:xfrm>
            <a:off x="1047779" y="9007625"/>
            <a:ext cx="5245734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24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立即预约演示，定制专属智</a:t>
            </a:r>
            <a:r>
              <a:rPr sz="24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能总机方案</a:t>
            </a:r>
            <a:endParaRPr sz="2400" dirty="0">
              <a:latin typeface="SimHei"/>
              <a:ea typeface="SimHei"/>
              <a:cs typeface="Sim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2794010" y="9646838"/>
            <a:ext cx="2727960" cy="645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800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您的首选智能总机解决方案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202564" algn="l" rtl="0" eaLnBrk="0">
              <a:lnSpc>
                <a:spcPct val="96000"/>
              </a:lnSpc>
              <a:tabLst/>
            </a:pP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电话咨询：021-96928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XXX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514576" y="3606776"/>
            <a:ext cx="292134" cy="1143017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488976" y="5381237"/>
            <a:ext cx="965200" cy="289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800" kern="0" spc="40" dirty="0">
                <a:solidFill>
                  <a:srgbClr val="208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核心功能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2051055" y="9763665"/>
            <a:ext cx="644525" cy="392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tabLst/>
            </a:pPr>
            <a:r>
              <a:rPr sz="1700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百事应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31115" algn="l" rtl="0" eaLnBrk="0">
              <a:lnSpc>
                <a:spcPct val="80000"/>
              </a:lnSpc>
              <a:spcBef>
                <a:spcPts val="6"/>
              </a:spcBef>
              <a:tabLst/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BETTER-IN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79480" y="5937296"/>
            <a:ext cx="438125" cy="374589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98522" y="7556490"/>
            <a:ext cx="419083" cy="387314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04870" y="6737377"/>
            <a:ext cx="400041" cy="393624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749297" y="4629589"/>
            <a:ext cx="210820" cy="3035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188"/>
              </a:lnSpc>
              <a:tabLst/>
            </a:pPr>
            <a:r>
              <a:rPr sz="1600" kern="0" spc="-80" dirty="0">
                <a:solidFill>
                  <a:srgbClr val="20C0C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!!</a:t>
            </a:r>
            <a:endParaRPr sz="1600" dirty="0">
              <a:latin typeface="SimSun"/>
              <a:ea typeface="SimSun"/>
              <a:cs typeface="SimSun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12CE86-796E-F77F-3929-B317EAA5AE36}"/>
              </a:ext>
            </a:extLst>
          </p:cNvPr>
          <p:cNvSpPr txBox="1"/>
          <p:nvPr/>
        </p:nvSpPr>
        <p:spPr>
          <a:xfrm>
            <a:off x="5542177" y="1946569"/>
            <a:ext cx="1218603" cy="1569660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</a:rPr>
              <a:t>AI</a:t>
            </a:r>
            <a:endParaRPr lang="zh-CN" altLang="en-US" sz="9600" b="1" dirty="0"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00503BF-BF9E-857A-5E49-AC140B9C4F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1" y="4199125"/>
            <a:ext cx="444762" cy="7116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292620" y="1371641"/>
            <a:ext cx="3206751" cy="6546821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95534" y="2247859"/>
            <a:ext cx="1708146" cy="3587742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60479" y="7962947"/>
            <a:ext cx="1079446" cy="1504882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448311" y="7962947"/>
            <a:ext cx="1073174" cy="1511298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1856660" y="8258866"/>
            <a:ext cx="4131945" cy="942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300" b="1" kern="0" spc="90" dirty="0">
                <a:solidFill>
                  <a:srgbClr val="2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人工成本降低60%(减少坐席招聘与培训投入)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14000"/>
              </a:lnSpc>
              <a:spcBef>
                <a:spcPts val="170"/>
              </a:spcBef>
              <a:tabLst/>
            </a:pPr>
            <a:r>
              <a:rPr sz="1300" b="1" kern="0" spc="150" dirty="0">
                <a:solidFill>
                  <a:srgbClr val="2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平均通话时长从5分钟缩短至2分钟(效率提升6</a:t>
            </a:r>
            <a:r>
              <a:rPr sz="1300" b="1" kern="0" spc="140" dirty="0">
                <a:solidFill>
                  <a:srgbClr val="2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0%)</a:t>
            </a:r>
            <a:r>
              <a:rPr sz="1300" kern="0" spc="-10" dirty="0">
                <a:solidFill>
                  <a:srgbClr val="2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lang="zh-CN" altLang="en-US" sz="1300" b="1" kern="0" spc="80" dirty="0">
                <a:solidFill>
                  <a:srgbClr val="2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客户</a:t>
            </a:r>
            <a:r>
              <a:rPr sz="1300" b="1" kern="0" spc="80" dirty="0">
                <a:solidFill>
                  <a:srgbClr val="2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满意度提升至92%(减少等待焦虑，服务更</a:t>
            </a:r>
            <a:r>
              <a:rPr sz="1300" b="1" kern="0" spc="70" dirty="0">
                <a:solidFill>
                  <a:srgbClr val="2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及时)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b="1" kern="0" spc="130" dirty="0">
                <a:solidFill>
                  <a:srgbClr val="1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呼叫接通率从75%提升至99%(无占线，服务无遗漏)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5827" y="4057611"/>
            <a:ext cx="1701799" cy="1771682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2142371" y="9489103"/>
            <a:ext cx="3279140" cy="876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300" b="1" kern="0" spc="200" dirty="0">
                <a:solidFill>
                  <a:srgbClr val="1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立即预约演示，定制专</a:t>
            </a:r>
            <a:r>
              <a:rPr sz="1300" b="1" kern="0" spc="190" dirty="0">
                <a:solidFill>
                  <a:srgbClr val="1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属智能总机方案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39800" algn="l" rtl="0" eaLnBrk="0">
              <a:lnSpc>
                <a:spcPct val="99000"/>
              </a:lnSpc>
              <a:spcBef>
                <a:spcPts val="399"/>
              </a:spcBef>
              <a:tabLst/>
            </a:pPr>
            <a:r>
              <a:rPr sz="1300" b="1" kern="0" spc="50" dirty="0">
                <a:solidFill>
                  <a:srgbClr val="2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您的首选智能总机解决方案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059814" algn="l" rtl="0" eaLnBrk="0">
              <a:lnSpc>
                <a:spcPct val="96000"/>
              </a:lnSpc>
              <a:spcBef>
                <a:spcPts val="268"/>
              </a:spcBef>
              <a:tabLst/>
            </a:pPr>
            <a:r>
              <a:rPr sz="1200" b="1" kern="0" spc="40" dirty="0">
                <a:solidFill>
                  <a:srgbClr val="1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电话咨询：021-96928</a:t>
            </a:r>
            <a:r>
              <a:rPr sz="1200" b="1" kern="0" spc="0" dirty="0">
                <a:solidFill>
                  <a:srgbClr val="107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XXX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1403317" y="1396986"/>
            <a:ext cx="4768907" cy="431799"/>
            <a:chOff x="0" y="0"/>
            <a:chExt cx="4768907" cy="431799"/>
          </a:xfrm>
        </p:grpSpPr>
        <p:pic>
          <p:nvPicPr>
            <p:cNvPr id="62" name="picture 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768907" cy="431799"/>
            </a:xfrm>
            <a:prstGeom prst="rect">
              <a:avLst/>
            </a:prstGeom>
          </p:spPr>
        </p:pic>
        <p:sp>
          <p:nvSpPr>
            <p:cNvPr id="64" name="textbox 64"/>
            <p:cNvSpPr/>
            <p:nvPr/>
          </p:nvSpPr>
          <p:spPr>
            <a:xfrm>
              <a:off x="-12700" y="-12700"/>
              <a:ext cx="4794884" cy="4857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199389" algn="l" rtl="0" eaLnBrk="0">
                <a:lnSpc>
                  <a:spcPct val="95000"/>
                </a:lnSpc>
                <a:spcBef>
                  <a:spcPts val="4"/>
                </a:spcBef>
                <a:tabLst/>
              </a:pPr>
              <a:r>
                <a:rPr sz="1700" b="1" kern="0" spc="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让服务咨询“秒响应”,让运营管理“更轻松</a:t>
              </a:r>
              <a:r>
                <a:rPr sz="1700" b="1" kern="0" spc="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”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66" name="picture 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1634" y="1384260"/>
            <a:ext cx="698447" cy="2559037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5287" y="158796"/>
            <a:ext cx="2139925" cy="831839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340329" y="165105"/>
            <a:ext cx="2159042" cy="774736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01634" y="6889757"/>
            <a:ext cx="742879" cy="2222516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2617940" y="573275"/>
            <a:ext cx="2340610" cy="676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4400" b="1" kern="0" spc="130" dirty="0">
                <a:solidFill>
                  <a:srgbClr val="105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智能总机</a:t>
            </a:r>
            <a:endParaRPr sz="4400" dirty="0">
              <a:latin typeface="SimHei"/>
              <a:ea typeface="SimHei"/>
              <a:cs typeface="SimHei"/>
            </a:endParaRPr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070589" y="9912353"/>
            <a:ext cx="1416087" cy="660424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01634" y="9912353"/>
            <a:ext cx="1396970" cy="666733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920754" y="6907301"/>
            <a:ext cx="1241425" cy="766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9689" algn="l" rtl="0" eaLnBrk="0">
              <a:lnSpc>
                <a:spcPct val="96000"/>
              </a:lnSpc>
              <a:tabLst/>
            </a:pPr>
            <a:r>
              <a:rPr sz="1700" b="1" kern="0" spc="30" dirty="0">
                <a:solidFill>
                  <a:srgbClr val="107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数据可视化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085"/>
              </a:lnSpc>
              <a:spcBef>
                <a:spcPts val="443"/>
              </a:spcBef>
              <a:tabLst/>
            </a:pPr>
            <a:r>
              <a:rPr sz="900" kern="0" spc="50" dirty="0">
                <a:solidFill>
                  <a:srgbClr val="3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实时呼叫量、自助成功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252729" indent="-234315" algn="l" rtl="0" eaLnBrk="0">
              <a:lnSpc>
                <a:spcPct val="108000"/>
              </a:lnSpc>
              <a:spcBef>
                <a:spcPts val="17"/>
              </a:spcBef>
              <a:tabLst/>
            </a:pPr>
            <a:r>
              <a:rPr sz="900" kern="0" spc="40" dirty="0">
                <a:solidFill>
                  <a:srgbClr val="3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率、高频咨询</a:t>
            </a:r>
            <a:r>
              <a:rPr sz="900" kern="0" spc="-170" dirty="0">
                <a:solidFill>
                  <a:srgbClr val="3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0" dirty="0">
                <a:solidFill>
                  <a:srgbClr val="306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TOP</a:t>
            </a:r>
            <a:r>
              <a:rPr sz="900" kern="0" spc="40" dirty="0">
                <a:solidFill>
                  <a:srgbClr val="306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5,</a:t>
            </a:r>
            <a:r>
              <a:rPr sz="900" kern="0" spc="0" dirty="0">
                <a:solidFill>
                  <a:srgbClr val="306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900" kern="0" spc="60" dirty="0">
                <a:solidFill>
                  <a:srgbClr val="3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支撑运营决策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2663725" y="6906438"/>
            <a:ext cx="1369694" cy="614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700" b="1" kern="0" spc="40" dirty="0">
                <a:solidFill>
                  <a:srgbClr val="108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数据安全加密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93675" indent="69214" algn="l" rtl="0" eaLnBrk="0">
              <a:lnSpc>
                <a:spcPct val="109000"/>
              </a:lnSpc>
              <a:spcBef>
                <a:spcPts val="1"/>
              </a:spcBef>
              <a:tabLst/>
            </a:pPr>
            <a:r>
              <a:rPr sz="900" kern="0" spc="60" dirty="0">
                <a:solidFill>
                  <a:srgbClr val="3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本地化数据存储</a:t>
            </a:r>
            <a:r>
              <a:rPr sz="900" kern="0" spc="0" dirty="0">
                <a:solidFill>
                  <a:srgbClr val="3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40" dirty="0">
                <a:solidFill>
                  <a:srgbClr val="3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运营商级防护保障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809512" y="3255283"/>
            <a:ext cx="1450339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700" b="1" kern="0" spc="0" dirty="0">
                <a:solidFill>
                  <a:srgbClr val="107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7×24小时服务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31775" algn="l" rtl="0" eaLnBrk="0">
              <a:lnSpc>
                <a:spcPts val="1088"/>
              </a:lnSpc>
              <a:spcBef>
                <a:spcPts val="5"/>
              </a:spcBef>
              <a:tabLst/>
            </a:pPr>
            <a:r>
              <a:rPr sz="900" kern="0" spc="70" dirty="0">
                <a:solidFill>
                  <a:srgbClr val="3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全天候无间断相应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079521" y="2470175"/>
            <a:ext cx="920759" cy="622248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022600" y="6153196"/>
            <a:ext cx="654015" cy="628558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387627" y="9804350"/>
            <a:ext cx="609582" cy="622356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225513" y="6146780"/>
            <a:ext cx="628700" cy="53980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A9138A0-6E64-0149-E1C2-65CA4ED5AAF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34681" y="8229934"/>
            <a:ext cx="308529" cy="10008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166</Words>
  <Application>Microsoft Office PowerPoint</Application>
  <PresentationFormat>自定义</PresentationFormat>
  <Paragraphs>107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方正姚体</vt:lpstr>
      <vt:lpstr>SimHei</vt:lpstr>
      <vt:lpstr>SimSun</vt:lpstr>
      <vt:lpstr>Arial</vt:lpstr>
      <vt:lpstr>Times New Roman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ming zheng</cp:lastModifiedBy>
  <cp:revision>15</cp:revision>
  <dcterms:created xsi:type="dcterms:W3CDTF">2025-11-18T13:59:06Z</dcterms:created>
  <dcterms:modified xsi:type="dcterms:W3CDTF">2025-11-24T01:20:50Z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2025-11-18T13:59:08Z</vt:filetime>
  </property>
  <property fmtid="{D5CDD505-2E9C-101B-9397-08002B2CF9AE}" pid="4" name="UsrData">
    <vt:lpwstr>691c0b269e8319001ff190e8wl</vt:lpwstr>
  </property>
</Properties>
</file>