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10" r:id="rId2"/>
    <p:sldId id="289" r:id="rId3"/>
    <p:sldId id="287" r:id="rId4"/>
    <p:sldId id="290" r:id="rId5"/>
    <p:sldId id="292" r:id="rId6"/>
    <p:sldId id="708" r:id="rId7"/>
    <p:sldId id="291" r:id="rId8"/>
    <p:sldId id="1719" r:id="rId9"/>
    <p:sldId id="1703" r:id="rId10"/>
    <p:sldId id="1198" r:id="rId11"/>
    <p:sldId id="1726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公司介绍" id="{FD4FFC6F-51C2-47D7-96B9-D3C7B18CF97B}">
          <p14:sldIdLst>
            <p14:sldId id="410"/>
          </p14:sldIdLst>
        </p14:section>
        <p14:section name="VCLOG" id="{B463BBCE-2438-4C8A-8A64-1893058F2E69}">
          <p14:sldIdLst>
            <p14:sldId id="289"/>
            <p14:sldId id="287"/>
            <p14:sldId id="290"/>
            <p14:sldId id="292"/>
            <p14:sldId id="708"/>
            <p14:sldId id="291"/>
            <p14:sldId id="1719"/>
            <p14:sldId id="1703"/>
            <p14:sldId id="1198"/>
            <p14:sldId id="17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7E48"/>
    <a:srgbClr val="EB7B49"/>
    <a:srgbClr val="FFB850"/>
    <a:srgbClr val="F8DFCB"/>
    <a:srgbClr val="F8D7CD"/>
    <a:srgbClr val="663A77"/>
    <a:srgbClr val="E87071"/>
    <a:srgbClr val="C65885"/>
    <a:srgbClr val="01ACBE"/>
    <a:srgbClr val="C8C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78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C97EB-E4FD-412D-96D8-745114C408A3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1EF97-7D7D-454F-ACCF-183B7C3B9A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1372" y="753467"/>
            <a:ext cx="13866091" cy="502554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758868" y="5578952"/>
            <a:ext cx="4331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v.2021</a:t>
            </a:r>
            <a:endParaRPr lang="zh-CN" altLang="en-US" sz="7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-349277" y="3720391"/>
            <a:ext cx="95325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1372" y="753467"/>
            <a:ext cx="13866091" cy="502554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758868" y="5578952"/>
            <a:ext cx="4331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v.2021</a:t>
            </a:r>
            <a:endParaRPr lang="zh-CN" altLang="en-US" sz="7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0160" y="0"/>
            <a:ext cx="16227572" cy="5881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9"/>
          <p:cNvSpPr/>
          <p:nvPr userDrawn="1"/>
        </p:nvSpPr>
        <p:spPr>
          <a:xfrm flipH="1">
            <a:off x="-1" y="2627697"/>
            <a:ext cx="3436219" cy="4215698"/>
          </a:xfrm>
          <a:prstGeom prst="triangle">
            <a:avLst>
              <a:gd name="adj" fmla="val 100000"/>
            </a:avLst>
          </a:prstGeom>
          <a:solidFill>
            <a:srgbClr val="F67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1" y="-23069"/>
            <a:ext cx="4379496" cy="6866467"/>
          </a:xfrm>
          <a:prstGeom prst="triangle">
            <a:avLst>
              <a:gd name="adj" fmla="val 100000"/>
            </a:avLst>
          </a:prstGeom>
          <a:solidFill>
            <a:srgbClr val="5C62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 hasCustomPrompt="1"/>
          </p:nvPr>
        </p:nvSpPr>
        <p:spPr>
          <a:xfrm>
            <a:off x="5159140" y="661534"/>
            <a:ext cx="4069617" cy="500378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章节一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章节二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11191" y="1588168"/>
            <a:ext cx="12214382" cy="2158169"/>
            <a:chOff x="-853" y="1552802"/>
            <a:chExt cx="12214382" cy="3901515"/>
          </a:xfrm>
        </p:grpSpPr>
        <p:sp>
          <p:nvSpPr>
            <p:cNvPr id="9" name="矩形 8"/>
            <p:cNvSpPr/>
            <p:nvPr/>
          </p:nvSpPr>
          <p:spPr>
            <a:xfrm>
              <a:off x="2714324" y="1552802"/>
              <a:ext cx="9499205" cy="3896774"/>
            </a:xfrm>
            <a:prstGeom prst="rect">
              <a:avLst/>
            </a:prstGeom>
            <a:solidFill>
              <a:srgbClr val="F67E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-853" y="1557544"/>
              <a:ext cx="2715177" cy="3896773"/>
            </a:xfrm>
            <a:prstGeom prst="rect">
              <a:avLst/>
            </a:prstGeom>
            <a:solidFill>
              <a:srgbClr val="5C62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5" name="文本框 14"/>
          <p:cNvSpPr txBox="1"/>
          <p:nvPr userDrawn="1"/>
        </p:nvSpPr>
        <p:spPr>
          <a:xfrm>
            <a:off x="3089318" y="2081166"/>
            <a:ext cx="832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号粗体</a:t>
            </a:r>
          </a:p>
        </p:txBody>
      </p:sp>
      <p:sp>
        <p:nvSpPr>
          <p:cNvPr id="16" name="Shape 285"/>
          <p:cNvSpPr txBox="1"/>
          <p:nvPr userDrawn="1"/>
        </p:nvSpPr>
        <p:spPr>
          <a:xfrm>
            <a:off x="3109993" y="2801974"/>
            <a:ext cx="5836884" cy="408198"/>
          </a:xfrm>
          <a:prstGeom prst="rect">
            <a:avLst/>
          </a:prstGeom>
          <a:noFill/>
          <a:ln>
            <a:noFill/>
          </a:ln>
        </p:spPr>
        <p:txBody>
          <a:bodyPr lIns="91413" tIns="45700" rIns="91413" bIns="45700" anchor="t" anchorCtr="0">
            <a:no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652711" y="1681568"/>
            <a:ext cx="168988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200"/>
            <a:r>
              <a:rPr lang="en-US" altLang="zh-CN" sz="128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  <a:endParaRPr lang="zh-CN" altLang="en-US" sz="128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1784187"/>
            <a:ext cx="4868628" cy="720000"/>
            <a:chOff x="0" y="1976692"/>
            <a:chExt cx="4868628" cy="720000"/>
          </a:xfrm>
          <a:solidFill>
            <a:srgbClr val="F67E48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0" y="2318692"/>
              <a:ext cx="3780000" cy="36000"/>
              <a:chOff x="0" y="5058000"/>
              <a:chExt cx="12192000" cy="1080000"/>
            </a:xfrm>
            <a:grpFill/>
          </p:grpSpPr>
          <p:sp>
            <p:nvSpPr>
              <p:cNvPr id="14" name="矩形 13"/>
              <p:cNvSpPr/>
              <p:nvPr/>
            </p:nvSpPr>
            <p:spPr>
              <a:xfrm>
                <a:off x="0" y="5058000"/>
                <a:ext cx="3049200" cy="10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A510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049200" y="5058000"/>
                <a:ext cx="3049200" cy="10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A510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098400" y="5058000"/>
                <a:ext cx="3049200" cy="10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A510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9142800" y="5058000"/>
                <a:ext cx="3049200" cy="10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A510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3" name="矩形 12"/>
            <p:cNvSpPr/>
            <p:nvPr userDrawn="1"/>
          </p:nvSpPr>
          <p:spPr>
            <a:xfrm>
              <a:off x="2834628" y="1976692"/>
              <a:ext cx="2034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A5105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2834628" y="4482123"/>
            <a:ext cx="9369372" cy="45719"/>
            <a:chOff x="0" y="5058000"/>
            <a:chExt cx="12192000" cy="1080000"/>
          </a:xfrm>
          <a:solidFill>
            <a:srgbClr val="5C629E"/>
          </a:solidFill>
        </p:grpSpPr>
        <p:sp>
          <p:nvSpPr>
            <p:cNvPr id="19" name="矩形 18"/>
            <p:cNvSpPr/>
            <p:nvPr/>
          </p:nvSpPr>
          <p:spPr>
            <a:xfrm>
              <a:off x="0" y="5058000"/>
              <a:ext cx="30492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A5105"/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049200" y="5058000"/>
              <a:ext cx="30492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A5105"/>
                </a:solidFill>
                <a:cs typeface="+mn-ea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098400" y="5058000"/>
              <a:ext cx="30492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A5105"/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42800" y="5058000"/>
              <a:ext cx="30492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A5105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4" name="图片 23" descr="卡通人物&#10;&#10;低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758" y="2933392"/>
            <a:ext cx="2645340" cy="15487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 rot="10800000">
            <a:off x="5786628" y="1059"/>
            <a:ext cx="618744" cy="406400"/>
          </a:xfrm>
          <a:prstGeom prst="triangle">
            <a:avLst/>
          </a:prstGeom>
          <a:solidFill>
            <a:srgbClr val="5C62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579364" y="1147279"/>
            <a:ext cx="98247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853" y="1552802"/>
            <a:ext cx="12214382" cy="3901515"/>
            <a:chOff x="-853" y="1552802"/>
            <a:chExt cx="12214382" cy="3901515"/>
          </a:xfrm>
        </p:grpSpPr>
        <p:sp>
          <p:nvSpPr>
            <p:cNvPr id="9" name="矩形 8"/>
            <p:cNvSpPr/>
            <p:nvPr/>
          </p:nvSpPr>
          <p:spPr>
            <a:xfrm>
              <a:off x="6096001" y="1552802"/>
              <a:ext cx="6117528" cy="3896774"/>
            </a:xfrm>
            <a:prstGeom prst="rect">
              <a:avLst/>
            </a:prstGeom>
            <a:solidFill>
              <a:srgbClr val="F67E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-853" y="1557543"/>
              <a:ext cx="11717623" cy="3896774"/>
              <a:chOff x="-853" y="1557543"/>
              <a:chExt cx="11717623" cy="389677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-853" y="1557543"/>
                <a:ext cx="6096853" cy="3896774"/>
              </a:xfrm>
              <a:prstGeom prst="rect">
                <a:avLst/>
              </a:prstGeom>
              <a:solidFill>
                <a:srgbClr val="5C62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Rectangle 5"/>
              <p:cNvSpPr>
                <a:spLocks noChangeArrowheads="1"/>
              </p:cNvSpPr>
              <p:nvPr userDrawn="1"/>
            </p:nvSpPr>
            <p:spPr bwMode="auto">
              <a:xfrm>
                <a:off x="475230" y="2124696"/>
                <a:ext cx="11241540" cy="281940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zh-CN" altLang="en-US" sz="2400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18"/>
              <p:cNvSpPr/>
              <p:nvPr/>
            </p:nvSpPr>
            <p:spPr bwMode="auto">
              <a:xfrm>
                <a:off x="11405619" y="4569446"/>
                <a:ext cx="311151" cy="374651"/>
              </a:xfrm>
              <a:custGeom>
                <a:avLst/>
                <a:gdLst>
                  <a:gd name="T0" fmla="*/ 147 w 147"/>
                  <a:gd name="T1" fmla="*/ 0 h 177"/>
                  <a:gd name="T2" fmla="*/ 0 w 147"/>
                  <a:gd name="T3" fmla="*/ 177 h 177"/>
                  <a:gd name="T4" fmla="*/ 147 w 147"/>
                  <a:gd name="T5" fmla="*/ 177 h 177"/>
                  <a:gd name="T6" fmla="*/ 147 w 1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7" h="177">
                    <a:moveTo>
                      <a:pt x="147" y="0"/>
                    </a:moveTo>
                    <a:lnTo>
                      <a:pt x="0" y="177"/>
                    </a:lnTo>
                    <a:lnTo>
                      <a:pt x="147" y="177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25"/>
              <p:cNvSpPr/>
              <p:nvPr/>
            </p:nvSpPr>
            <p:spPr bwMode="auto">
              <a:xfrm>
                <a:off x="11348468" y="4552513"/>
                <a:ext cx="368300" cy="391584"/>
              </a:xfrm>
              <a:custGeom>
                <a:avLst/>
                <a:gdLst>
                  <a:gd name="T0" fmla="*/ 65 w 65"/>
                  <a:gd name="T1" fmla="*/ 3 h 69"/>
                  <a:gd name="T2" fmla="*/ 10 w 65"/>
                  <a:gd name="T3" fmla="*/ 69 h 69"/>
                  <a:gd name="T4" fmla="*/ 0 w 65"/>
                  <a:gd name="T5" fmla="*/ 0 h 69"/>
                  <a:gd name="T6" fmla="*/ 65 w 65"/>
                  <a:gd name="T7" fmla="*/ 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9">
                    <a:moveTo>
                      <a:pt x="65" y="3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6" y="46"/>
                      <a:pt x="14" y="23"/>
                      <a:pt x="0" y="0"/>
                    </a:cubicBezTo>
                    <a:cubicBezTo>
                      <a:pt x="21" y="15"/>
                      <a:pt x="43" y="14"/>
                      <a:pt x="65" y="3"/>
                    </a:cubicBezTo>
                    <a:close/>
                  </a:path>
                </a:pathLst>
              </a:custGeom>
              <a:solidFill>
                <a:srgbClr val="E8E7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0" name="矩形 19"/>
          <p:cNvSpPr/>
          <p:nvPr userDrawn="1"/>
        </p:nvSpPr>
        <p:spPr>
          <a:xfrm>
            <a:off x="9221002" y="5909912"/>
            <a:ext cx="2781701" cy="702644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2667786" y="2686639"/>
            <a:ext cx="680615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 userDrawn="1"/>
        </p:nvSpPr>
        <p:spPr>
          <a:xfrm>
            <a:off x="-876693" y="1418734"/>
            <a:ext cx="11265032" cy="3040144"/>
          </a:xfrm>
          <a:prstGeom prst="parallelogram">
            <a:avLst/>
          </a:prstGeom>
          <a:solidFill>
            <a:srgbClr val="585E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9709608" y="1418734"/>
            <a:ext cx="7637283" cy="3040144"/>
          </a:xfrm>
          <a:prstGeom prst="parallelogram">
            <a:avLst/>
          </a:prstGeom>
          <a:solidFill>
            <a:srgbClr val="EB7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73FE1A-6634-4C20-9484-8CD7B5A1AA8E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0D1EBD-A308-4E78-B314-9861692DA0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73FE1A-6634-4C20-9484-8CD7B5A1AA8E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0D1EBD-A308-4E78-B314-9861692DA0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73FE1A-6634-4C20-9484-8CD7B5A1AA8E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0D1EBD-A308-4E78-B314-9861692DA0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007" y="0"/>
            <a:ext cx="9042400" cy="618565"/>
          </a:xfrm>
          <a:prstGeom prst="rect">
            <a:avLst/>
          </a:prstGeom>
        </p:spPr>
        <p:txBody>
          <a:bodyPr anchor="b" anchorCtr="0"/>
          <a:lstStyle>
            <a:lvl1pPr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006" y="1085046"/>
            <a:ext cx="11280071" cy="5003781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Arial" panose="020B0604020202020204" pitchFamily="34" charset="0"/>
              <a:buChar char="•"/>
              <a:defRPr sz="2000" baseline="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114300" indent="0">
              <a:buClr>
                <a:srgbClr val="4D148C"/>
              </a:buClr>
              <a:buFont typeface="Wingdings" panose="05000000000000000000" pitchFamily="2" charset="2"/>
              <a:buNone/>
              <a:defRPr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798830" indent="-281305">
              <a:buFont typeface="Wingdings" panose="05000000000000000000" pitchFamily="2" charset="2"/>
              <a:buChar char="l"/>
              <a:defRPr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59255" indent="-228600">
              <a:buFont typeface="Wingdings" panose="05000000000000000000" pitchFamily="2" charset="2"/>
              <a:buChar char="l"/>
              <a:defRPr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	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594" y="6199236"/>
            <a:ext cx="2170062" cy="3446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oicecodes.com/index.php/products-and-solutions/technology-and-advantages/switch-support/aastra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5260" y="2112120"/>
            <a:ext cx="3701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VoiceCyber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宇高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客户互动智能管理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673334"/>
            <a:ext cx="7152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" dirty="0">
                <a:solidFill>
                  <a:srgbClr val="585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D55-6212-001</a:t>
            </a:r>
            <a:endParaRPr lang="en-US" altLang="zh-CN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53380" y="2887673"/>
            <a:ext cx="832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en-US" altLang="zh-CN" sz="32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VCLOG–</a:t>
            </a:r>
            <a:r>
              <a:rPr lang="zh-CN" altLang="en-US" sz="32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媒体数据采集能力</a:t>
            </a:r>
          </a:p>
        </p:txBody>
      </p:sp>
      <p:sp>
        <p:nvSpPr>
          <p:cNvPr id="4" name="Shape 285"/>
          <p:cNvSpPr txBox="1"/>
          <p:nvPr/>
        </p:nvSpPr>
        <p:spPr>
          <a:xfrm>
            <a:off x="2853380" y="3504004"/>
            <a:ext cx="7223091" cy="408198"/>
          </a:xfrm>
          <a:prstGeom prst="rect">
            <a:avLst/>
          </a:prstGeom>
          <a:noFill/>
          <a:ln>
            <a:noFill/>
          </a:ln>
        </p:spPr>
        <p:txBody>
          <a:bodyPr lIns="91413" tIns="45700" rIns="91413" bIns="45700" anchor="t" anchorCtr="0">
            <a:no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2000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语音、视频数据采集</a:t>
            </a:r>
            <a:endParaRPr lang="en-US" altLang="zh-CN" sz="2000" dirty="0">
              <a:solidFill>
                <a:srgbClr val="F67E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9801" y="1636355"/>
            <a:ext cx="11087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lang="en-US" altLang="zh-CN" sz="60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  <a:endParaRPr lang="zh-CN" altLang="en-US" sz="60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43541" y="559667"/>
            <a:ext cx="4134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痛点：对接不同的交换机</a:t>
            </a:r>
          </a:p>
        </p:txBody>
      </p:sp>
      <p:sp>
        <p:nvSpPr>
          <p:cNvPr id="4" name="object 143"/>
          <p:cNvSpPr txBox="1"/>
          <p:nvPr/>
        </p:nvSpPr>
        <p:spPr>
          <a:xfrm>
            <a:off x="671590" y="1249348"/>
            <a:ext cx="11227263" cy="84875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9085" marR="271780" indent="-28702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1800" b="0" dirty="0" err="1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行业内存在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各种交换平台</a:t>
            </a:r>
            <a:r>
              <a:rPr sz="1800" b="0" dirty="0" err="1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r>
              <a:rPr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系统集成商即要对接不同</a:t>
            </a:r>
            <a:r>
              <a:rPr lang="en-US" altLang="zh-CN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引擎，还要对接不同的交换平台，费时费力。</a:t>
            </a:r>
            <a:endParaRPr lang="en-US" altLang="zh-CN" sz="1800" b="0" dirty="0">
              <a:solidFill>
                <a:srgbClr val="EB7B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9085" marR="271780" indent="-28702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zh-CN" sz="1800" b="0" dirty="0" err="1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Voicecyber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宇高积累了</a:t>
            </a:r>
            <a:r>
              <a:rPr lang="en-US" altLang="zh-CN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年的经验，</a:t>
            </a:r>
            <a:r>
              <a:rPr lang="en-US" altLang="zh-CN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VCLOG</a:t>
            </a:r>
            <a:r>
              <a:rPr lang="zh-CN" altLang="en-US" sz="1800" b="0" dirty="0">
                <a:solidFill>
                  <a:srgbClr val="EB7B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可以敏捷对接不同的交换机</a:t>
            </a:r>
            <a:endParaRPr sz="1800" b="0" dirty="0">
              <a:solidFill>
                <a:srgbClr val="EB7B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1933432" y="5128251"/>
            <a:ext cx="72121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Vodavi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6" name="object 10"/>
          <p:cNvSpPr txBox="1"/>
          <p:nvPr/>
        </p:nvSpPr>
        <p:spPr>
          <a:xfrm>
            <a:off x="1700292" y="4630161"/>
            <a:ext cx="10482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Microsoft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7" name="object 14"/>
          <p:cNvSpPr txBox="1"/>
          <p:nvPr/>
        </p:nvSpPr>
        <p:spPr>
          <a:xfrm>
            <a:off x="3101183" y="5141631"/>
            <a:ext cx="83667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Unify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8" name="object 18"/>
          <p:cNvSpPr txBox="1"/>
          <p:nvPr/>
        </p:nvSpPr>
        <p:spPr>
          <a:xfrm>
            <a:off x="3066152" y="4645162"/>
            <a:ext cx="92991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Motorola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9" name="object 22"/>
          <p:cNvSpPr txBox="1"/>
          <p:nvPr/>
        </p:nvSpPr>
        <p:spPr>
          <a:xfrm>
            <a:off x="4383518" y="5128251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Yeastar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0" name="object 26"/>
          <p:cNvSpPr txBox="1"/>
          <p:nvPr/>
        </p:nvSpPr>
        <p:spPr>
          <a:xfrm>
            <a:off x="4360954" y="4645162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NEC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1" name="object 30"/>
          <p:cNvSpPr txBox="1"/>
          <p:nvPr/>
        </p:nvSpPr>
        <p:spPr>
          <a:xfrm>
            <a:off x="5722732" y="5128251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ZTE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2" name="object 34"/>
          <p:cNvSpPr txBox="1"/>
          <p:nvPr/>
        </p:nvSpPr>
        <p:spPr>
          <a:xfrm>
            <a:off x="5680091" y="4645162"/>
            <a:ext cx="110702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Panasonic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3" name="object 38"/>
          <p:cNvSpPr txBox="1"/>
          <p:nvPr/>
        </p:nvSpPr>
        <p:spPr>
          <a:xfrm>
            <a:off x="7176375" y="5165767"/>
            <a:ext cx="209431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FreeSWITCH</a:t>
            </a:r>
            <a:r>
              <a:rPr lang="zh-CN" altLang="en-US" sz="1600" b="0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开源生态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4" name="object 42"/>
          <p:cNvSpPr txBox="1"/>
          <p:nvPr/>
        </p:nvSpPr>
        <p:spPr>
          <a:xfrm>
            <a:off x="7062075" y="4645162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Samsung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5" name="object 50"/>
          <p:cNvSpPr txBox="1"/>
          <p:nvPr/>
        </p:nvSpPr>
        <p:spPr>
          <a:xfrm>
            <a:off x="8499366" y="4639791"/>
            <a:ext cx="7972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Tadiran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6" name="object 58"/>
          <p:cNvSpPr txBox="1"/>
          <p:nvPr/>
        </p:nvSpPr>
        <p:spPr>
          <a:xfrm>
            <a:off x="9690592" y="4649849"/>
            <a:ext cx="100571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Toshiba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object 62"/>
          <p:cNvSpPr txBox="1"/>
          <p:nvPr/>
        </p:nvSpPr>
        <p:spPr>
          <a:xfrm>
            <a:off x="9562957" y="4088239"/>
            <a:ext cx="129514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Mitel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object 66"/>
          <p:cNvSpPr txBox="1"/>
          <p:nvPr/>
        </p:nvSpPr>
        <p:spPr>
          <a:xfrm>
            <a:off x="8655798" y="4075803"/>
            <a:ext cx="43243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LG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object 70"/>
          <p:cNvSpPr txBox="1"/>
          <p:nvPr/>
        </p:nvSpPr>
        <p:spPr>
          <a:xfrm>
            <a:off x="1762996" y="3563495"/>
            <a:ext cx="98120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 err="1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Boardsoft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0" name="object 74"/>
          <p:cNvSpPr txBox="1"/>
          <p:nvPr/>
        </p:nvSpPr>
        <p:spPr>
          <a:xfrm>
            <a:off x="1933433" y="3026655"/>
            <a:ext cx="63449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altLang="zh-CN" sz="1600" b="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Aastra</a:t>
            </a:r>
            <a:endParaRPr sz="16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1" name="object 78"/>
          <p:cNvSpPr txBox="1"/>
          <p:nvPr/>
        </p:nvSpPr>
        <p:spPr>
          <a:xfrm>
            <a:off x="3153528" y="3559841"/>
            <a:ext cx="73266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Bosch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2" name="object 82"/>
          <p:cNvSpPr txBox="1"/>
          <p:nvPr/>
        </p:nvSpPr>
        <p:spPr>
          <a:xfrm>
            <a:off x="3178287" y="3025131"/>
            <a:ext cx="75957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b="0" spc="-5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Airbus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object 86"/>
          <p:cNvSpPr txBox="1"/>
          <p:nvPr/>
        </p:nvSpPr>
        <p:spPr>
          <a:xfrm>
            <a:off x="4612117" y="3551496"/>
            <a:ext cx="6627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Cisco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4" name="object 90"/>
          <p:cNvSpPr txBox="1"/>
          <p:nvPr/>
        </p:nvSpPr>
        <p:spPr>
          <a:xfrm>
            <a:off x="4196854" y="3045037"/>
            <a:ext cx="136851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Alcatel</a:t>
            </a:r>
          </a:p>
        </p:txBody>
      </p:sp>
      <p:sp>
        <p:nvSpPr>
          <p:cNvPr id="25" name="object 94"/>
          <p:cNvSpPr txBox="1"/>
          <p:nvPr/>
        </p:nvSpPr>
        <p:spPr>
          <a:xfrm>
            <a:off x="5883663" y="3563495"/>
            <a:ext cx="7111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DAMM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6" name="object 98"/>
          <p:cNvSpPr txBox="1"/>
          <p:nvPr/>
        </p:nvSpPr>
        <p:spPr>
          <a:xfrm>
            <a:off x="5599668" y="3044944"/>
            <a:ext cx="11874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0" spc="5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Aspect</a:t>
            </a:r>
          </a:p>
        </p:txBody>
      </p:sp>
      <p:sp>
        <p:nvSpPr>
          <p:cNvPr id="27" name="object 102"/>
          <p:cNvSpPr txBox="1"/>
          <p:nvPr/>
        </p:nvSpPr>
        <p:spPr>
          <a:xfrm>
            <a:off x="7176375" y="3551496"/>
            <a:ext cx="7112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 err="1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eON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8" name="object 106"/>
          <p:cNvSpPr txBox="1"/>
          <p:nvPr/>
        </p:nvSpPr>
        <p:spPr>
          <a:xfrm>
            <a:off x="6962502" y="3037514"/>
            <a:ext cx="122298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Asterisk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9" name="object 110"/>
          <p:cNvSpPr txBox="1"/>
          <p:nvPr/>
        </p:nvSpPr>
        <p:spPr>
          <a:xfrm>
            <a:off x="8400541" y="3551495"/>
            <a:ext cx="92492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Ericsson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0" name="object 114"/>
          <p:cNvSpPr txBox="1"/>
          <p:nvPr/>
        </p:nvSpPr>
        <p:spPr>
          <a:xfrm>
            <a:off x="8267170" y="3055204"/>
            <a:ext cx="11750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Audiocodes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1" name="object 118"/>
          <p:cNvSpPr txBox="1"/>
          <p:nvPr/>
        </p:nvSpPr>
        <p:spPr>
          <a:xfrm>
            <a:off x="9554764" y="3551495"/>
            <a:ext cx="13938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spc="-5" dirty="0" err="1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FreeSWITCH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2" name="object 122"/>
          <p:cNvSpPr txBox="1"/>
          <p:nvPr/>
        </p:nvSpPr>
        <p:spPr>
          <a:xfrm>
            <a:off x="9787158" y="3037514"/>
            <a:ext cx="99817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u="sng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Avaya</a:t>
            </a:r>
          </a:p>
        </p:txBody>
      </p:sp>
      <p:sp>
        <p:nvSpPr>
          <p:cNvPr id="33" name="object 126"/>
          <p:cNvSpPr txBox="1"/>
          <p:nvPr/>
        </p:nvSpPr>
        <p:spPr>
          <a:xfrm>
            <a:off x="3205171" y="4088237"/>
            <a:ext cx="64772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Harris</a:t>
            </a:r>
            <a:endParaRPr sz="1600" b="0" dirty="0">
              <a:solidFill>
                <a:srgbClr val="33B6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4" name="object 130"/>
          <p:cNvSpPr txBox="1"/>
          <p:nvPr/>
        </p:nvSpPr>
        <p:spPr>
          <a:xfrm>
            <a:off x="1865270" y="4088238"/>
            <a:ext cx="7783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F49E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Fujitsu</a:t>
            </a:r>
            <a:endParaRPr sz="1600" b="0" dirty="0">
              <a:solidFill>
                <a:srgbClr val="F49E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5" name="object 134"/>
          <p:cNvSpPr txBox="1"/>
          <p:nvPr/>
        </p:nvSpPr>
        <p:spPr>
          <a:xfrm>
            <a:off x="4383518" y="4077326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Huawei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36" name="object 138"/>
          <p:cNvSpPr txBox="1"/>
          <p:nvPr/>
        </p:nvSpPr>
        <p:spPr>
          <a:xfrm>
            <a:off x="5840661" y="4090189"/>
            <a:ext cx="77355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z="1600" b="0" u="sng" dirty="0">
                <a:solidFill>
                  <a:srgbClr val="33B6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翰声</a:t>
            </a:r>
          </a:p>
        </p:txBody>
      </p:sp>
      <p:sp>
        <p:nvSpPr>
          <p:cNvPr id="37" name="object 142"/>
          <p:cNvSpPr txBox="1"/>
          <p:nvPr/>
        </p:nvSpPr>
        <p:spPr>
          <a:xfrm>
            <a:off x="7176375" y="4077326"/>
            <a:ext cx="82193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 err="1">
                <a:solidFill>
                  <a:srgbClr val="3C57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Intertel</a:t>
            </a:r>
            <a:endParaRPr sz="1600" b="0" dirty="0">
              <a:solidFill>
                <a:srgbClr val="3C57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cxnSp>
        <p:nvCxnSpPr>
          <p:cNvPr id="38" name="直接连接符 37"/>
          <p:cNvCxnSpPr/>
          <p:nvPr/>
        </p:nvCxnSpPr>
        <p:spPr bwMode="auto">
          <a:xfrm>
            <a:off x="1636023" y="3415997"/>
            <a:ext cx="9237682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auto">
          <a:xfrm>
            <a:off x="1636023" y="3953562"/>
            <a:ext cx="9237682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auto">
          <a:xfrm>
            <a:off x="1636023" y="4480257"/>
            <a:ext cx="9237682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 bwMode="auto">
          <a:xfrm>
            <a:off x="1620422" y="5043527"/>
            <a:ext cx="9237682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 bwMode="auto">
          <a:xfrm>
            <a:off x="2778208" y="2927645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 bwMode="auto">
          <a:xfrm>
            <a:off x="2772975" y="3495621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 bwMode="auto">
          <a:xfrm>
            <a:off x="2772975" y="403235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 bwMode="auto">
          <a:xfrm>
            <a:off x="2772975" y="457295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 bwMode="auto">
          <a:xfrm>
            <a:off x="2772975" y="511599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 bwMode="auto">
          <a:xfrm>
            <a:off x="4152246" y="2910725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 bwMode="auto">
          <a:xfrm>
            <a:off x="4147013" y="3478701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 bwMode="auto">
          <a:xfrm>
            <a:off x="4147013" y="401543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>
            <a:off x="4147013" y="455603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 bwMode="auto">
          <a:xfrm>
            <a:off x="4147013" y="509907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auto">
          <a:xfrm>
            <a:off x="5555060" y="2963176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 bwMode="auto">
          <a:xfrm>
            <a:off x="5549827" y="3531152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 bwMode="auto">
          <a:xfrm>
            <a:off x="5549827" y="4067890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 bwMode="auto">
          <a:xfrm>
            <a:off x="5549827" y="4608490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 bwMode="auto">
          <a:xfrm>
            <a:off x="5549827" y="5151525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auto">
          <a:xfrm>
            <a:off x="6880816" y="2963175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auto">
          <a:xfrm>
            <a:off x="6875583" y="3531151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 bwMode="auto">
          <a:xfrm>
            <a:off x="6875583" y="406788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 bwMode="auto">
          <a:xfrm>
            <a:off x="6875583" y="4608489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 bwMode="auto">
          <a:xfrm>
            <a:off x="6875583" y="515152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 bwMode="auto">
          <a:xfrm>
            <a:off x="8212182" y="2957180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 bwMode="auto">
          <a:xfrm>
            <a:off x="8206949" y="3525156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 bwMode="auto">
          <a:xfrm>
            <a:off x="8206949" y="406189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 bwMode="auto">
          <a:xfrm>
            <a:off x="8206949" y="460249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9506973" y="2930208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 bwMode="auto">
          <a:xfrm>
            <a:off x="9501740" y="3498184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 bwMode="auto">
          <a:xfrm>
            <a:off x="9501740" y="4034922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 bwMode="auto">
          <a:xfrm>
            <a:off x="9501740" y="4575522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 bwMode="auto">
          <a:xfrm>
            <a:off x="9501740" y="5118557"/>
            <a:ext cx="0" cy="373451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1700292" y="2533638"/>
            <a:ext cx="3109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b="0" dirty="0"/>
              <a:t>以下厂商按照字母顺序排序</a:t>
            </a:r>
          </a:p>
        </p:txBody>
      </p:sp>
      <p:sp>
        <p:nvSpPr>
          <p:cNvPr id="72" name="object 22"/>
          <p:cNvSpPr txBox="1"/>
          <p:nvPr/>
        </p:nvSpPr>
        <p:spPr>
          <a:xfrm>
            <a:off x="9772593" y="5165767"/>
            <a:ext cx="939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0" dirty="0">
                <a:solidFill>
                  <a:srgbClr val="DD4D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Others</a:t>
            </a:r>
            <a:endParaRPr sz="1600" b="0" dirty="0">
              <a:solidFill>
                <a:srgbClr val="DD4D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98950" y="559667"/>
            <a:ext cx="3023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VCLOG-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语音采集</a:t>
            </a:r>
          </a:p>
        </p:txBody>
      </p:sp>
      <p:grpSp>
        <p:nvGrpSpPr>
          <p:cNvPr id="4" name="Group 42"/>
          <p:cNvGrpSpPr/>
          <p:nvPr/>
        </p:nvGrpSpPr>
        <p:grpSpPr>
          <a:xfrm>
            <a:off x="597739" y="1328347"/>
            <a:ext cx="3334062" cy="2064267"/>
            <a:chOff x="6120384" y="1178003"/>
            <a:chExt cx="3334062" cy="2299765"/>
          </a:xfrm>
          <a:solidFill>
            <a:srgbClr val="F59D56"/>
          </a:solidFill>
        </p:grpSpPr>
        <p:sp>
          <p:nvSpPr>
            <p:cNvPr id="5" name="Rectangle 44"/>
            <p:cNvSpPr/>
            <p:nvPr/>
          </p:nvSpPr>
          <p:spPr>
            <a:xfrm>
              <a:off x="6120384" y="1178003"/>
              <a:ext cx="3334062" cy="2299765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Box 46"/>
            <p:cNvSpPr txBox="1"/>
            <p:nvPr/>
          </p:nvSpPr>
          <p:spPr>
            <a:xfrm>
              <a:off x="7643167" y="2028465"/>
              <a:ext cx="1686076" cy="598836"/>
            </a:xfrm>
            <a:prstGeom prst="rect">
              <a:avLst/>
            </a:prstGeom>
            <a:grpFill/>
          </p:spPr>
          <p:txBody>
            <a:bodyPr vert="horz" wrap="square" lIns="91440" tIns="45720" rIns="91440" bIns="45720" rtlCol="0">
              <a:no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VoIP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  <a:endParaRPr lang="zh-CN" altLang="en-US" sz="2400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Group 57"/>
          <p:cNvGrpSpPr/>
          <p:nvPr/>
        </p:nvGrpSpPr>
        <p:grpSpPr>
          <a:xfrm>
            <a:off x="597739" y="3481535"/>
            <a:ext cx="3334062" cy="1363938"/>
            <a:chOff x="6120384" y="1178003"/>
            <a:chExt cx="3334062" cy="2299765"/>
          </a:xfrm>
          <a:solidFill>
            <a:srgbClr val="4BACC6"/>
          </a:solidFill>
        </p:grpSpPr>
        <p:sp>
          <p:nvSpPr>
            <p:cNvPr id="8" name="Rectangle 58"/>
            <p:cNvSpPr/>
            <p:nvPr/>
          </p:nvSpPr>
          <p:spPr>
            <a:xfrm>
              <a:off x="6120384" y="1178003"/>
              <a:ext cx="3334062" cy="2299765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59"/>
            <p:cNvSpPr txBox="1"/>
            <p:nvPr/>
          </p:nvSpPr>
          <p:spPr>
            <a:xfrm>
              <a:off x="7643167" y="1858980"/>
              <a:ext cx="1686076" cy="598836"/>
            </a:xfrm>
            <a:prstGeom prst="rect">
              <a:avLst/>
            </a:prstGeom>
            <a:grpFill/>
          </p:spPr>
          <p:txBody>
            <a:bodyPr vert="horz" wrap="square" lIns="91440" tIns="45720" rIns="91440" bIns="45720" rtlCol="0">
              <a:no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  <a:endParaRPr lang="zh-CN" altLang="en-US" sz="2400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Group 61"/>
          <p:cNvGrpSpPr/>
          <p:nvPr/>
        </p:nvGrpSpPr>
        <p:grpSpPr>
          <a:xfrm>
            <a:off x="597739" y="4934395"/>
            <a:ext cx="3334062" cy="1363938"/>
            <a:chOff x="6120384" y="1178003"/>
            <a:chExt cx="3334062" cy="2299765"/>
          </a:xfrm>
          <a:solidFill>
            <a:srgbClr val="AB9AC0"/>
          </a:solidFill>
        </p:grpSpPr>
        <p:sp>
          <p:nvSpPr>
            <p:cNvPr id="11" name="Rectangle 62"/>
            <p:cNvSpPr/>
            <p:nvPr/>
          </p:nvSpPr>
          <p:spPr>
            <a:xfrm>
              <a:off x="6120384" y="1178003"/>
              <a:ext cx="3334062" cy="2299765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Box 63"/>
            <p:cNvSpPr txBox="1"/>
            <p:nvPr/>
          </p:nvSpPr>
          <p:spPr>
            <a:xfrm>
              <a:off x="7643167" y="2028465"/>
              <a:ext cx="1571437" cy="598836"/>
            </a:xfrm>
            <a:prstGeom prst="rect">
              <a:avLst/>
            </a:prstGeom>
            <a:grpFill/>
          </p:spPr>
          <p:txBody>
            <a:bodyPr vert="horz" wrap="square" lIns="91440" tIns="45720" rIns="91440" bIns="45720" rtlCol="0">
              <a:noAutofit/>
            </a:bodyPr>
            <a:lstStyle/>
            <a:p>
              <a:r>
                <a:rPr lang="en-US" altLang="zh-CN" sz="2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SipREC</a:t>
              </a:r>
              <a:endParaRPr lang="en-US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Picture 2" descr="C:\My Documents\Graphics\V11.2 Enablement Icons\Analytics Veri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06" y="5167080"/>
            <a:ext cx="989840" cy="98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70"/>
          <p:cNvSpPr/>
          <p:nvPr/>
        </p:nvSpPr>
        <p:spPr>
          <a:xfrm>
            <a:off x="4126049" y="2389801"/>
            <a:ext cx="4098560" cy="993854"/>
          </a:xfrm>
          <a:prstGeom prst="rect">
            <a:avLst/>
          </a:prstGeom>
          <a:solidFill>
            <a:srgbClr val="F59D5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elivery 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平台主动推送（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Alcatel IP DRLINK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Avaya DMCC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Cisco BIB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Genesys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Conference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71"/>
          <p:cNvSpPr/>
          <p:nvPr/>
        </p:nvSpPr>
        <p:spPr>
          <a:xfrm>
            <a:off x="4149868" y="3481534"/>
            <a:ext cx="4098560" cy="637509"/>
          </a:xfrm>
          <a:prstGeom prst="rect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assive Tapping 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物理并线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72"/>
          <p:cNvSpPr/>
          <p:nvPr/>
        </p:nvSpPr>
        <p:spPr>
          <a:xfrm>
            <a:off x="4149868" y="4207963"/>
            <a:ext cx="4098560" cy="637509"/>
          </a:xfrm>
          <a:prstGeom prst="rect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Delivery 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平台主动推送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73"/>
          <p:cNvSpPr/>
          <p:nvPr/>
        </p:nvSpPr>
        <p:spPr>
          <a:xfrm>
            <a:off x="4126049" y="4935571"/>
            <a:ext cx="4098560" cy="1336318"/>
          </a:xfrm>
          <a:prstGeom prst="rect">
            <a:avLst/>
          </a:prstGeom>
          <a:solidFill>
            <a:srgbClr val="AB9A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ipREC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（音视频）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76"/>
          <p:cNvSpPr/>
          <p:nvPr/>
        </p:nvSpPr>
        <p:spPr>
          <a:xfrm>
            <a:off x="8404075" y="1328687"/>
            <a:ext cx="2472128" cy="49432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满足不同部署场景、部署架构和技术实施需要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56" y="1789452"/>
            <a:ext cx="619739" cy="106812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06" y="3707896"/>
            <a:ext cx="969899" cy="921809"/>
          </a:xfrm>
          <a:prstGeom prst="rect">
            <a:avLst/>
          </a:prstGeom>
        </p:spPr>
      </p:pic>
      <p:sp>
        <p:nvSpPr>
          <p:cNvPr id="21" name="Rectangle 68"/>
          <p:cNvSpPr/>
          <p:nvPr/>
        </p:nvSpPr>
        <p:spPr>
          <a:xfrm>
            <a:off x="4126049" y="1328347"/>
            <a:ext cx="4098560" cy="972533"/>
          </a:xfrm>
          <a:prstGeom prst="rect">
            <a:avLst/>
          </a:prstGeom>
          <a:solidFill>
            <a:srgbClr val="F59D5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网络镜像抓包（音视频）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DAE266-38A3-4CE5-8D78-F77298A6876C}"/>
              </a:ext>
            </a:extLst>
          </p:cNvPr>
          <p:cNvSpPr txBox="1"/>
          <p:nvPr/>
        </p:nvSpPr>
        <p:spPr>
          <a:xfrm>
            <a:off x="3465923" y="560319"/>
            <a:ext cx="5126596" cy="4201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eaLnBrk="0" latinLnBrk="0" hangingPunct="0">
              <a:lnSpc>
                <a:spcPct val="75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VCLOG——</a:t>
            </a:r>
            <a:r>
              <a:rPr lang="zh-CN" altLang="en-US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主动式获取</a:t>
            </a:r>
            <a:r>
              <a:rPr lang="en-US" altLang="zh-CN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DMCC</a:t>
            </a:r>
            <a:endParaRPr lang="zh-CN" altLang="en-US" sz="2800" b="1" dirty="0">
              <a:solidFill>
                <a:srgbClr val="F67E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12C66A-5E66-4FC4-9264-FDF0852FD2F5}"/>
              </a:ext>
            </a:extLst>
          </p:cNvPr>
          <p:cNvSpPr txBox="1"/>
          <p:nvPr/>
        </p:nvSpPr>
        <p:spPr>
          <a:xfrm>
            <a:off x="770345" y="2143585"/>
            <a:ext cx="5258876" cy="4493521"/>
          </a:xfrm>
          <a:prstGeom prst="rect">
            <a:avLst/>
          </a:prstGeom>
          <a:ln w="38100">
            <a:solidFill>
              <a:srgbClr val="F59D56"/>
            </a:solidFill>
          </a:ln>
        </p:spPr>
        <p:txBody>
          <a:bodyPr lIns="137160" rIns="137160" anchor="t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400" latinLnBrk="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PBX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的主动传送功能（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Avaya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latinLnBrk="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控制基于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CTI</a:t>
            </a:r>
          </a:p>
          <a:p>
            <a:pPr marL="342900" marR="0" lvl="0" indent="-342900" defTabSz="914400" latinLnBrk="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无需配置网络镜像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是一种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单步会议录音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DMCC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方式录音系统遵循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AVAYA H.323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SIP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协议，通过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CMapi/Sip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服务器发送控制消息（如摘挂机消息、主被叫号码、通话时间等）启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停录音。录音服务器通过“会议”方式获得媒体流，实现</a:t>
            </a:r>
            <a:r>
              <a:rPr lang="tr-TR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zh-CN" sz="1100" kern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坐席录音。</a:t>
            </a:r>
            <a:endParaRPr lang="en-US" altLang="zh-CN" sz="1100" kern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单步会议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录音步骤：</a:t>
            </a:r>
          </a:p>
          <a:p>
            <a:pPr indent="304800" algn="just">
              <a:lnSpc>
                <a:spcPct val="150000"/>
              </a:lnSpc>
              <a:buNone/>
            </a:pP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呼叫建立时，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Tsapi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服务发送启动消息给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VCLog 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并由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DMCC/Cmapi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服务建立“三方”会议，录音系统启动录音，抓取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RTP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流；</a:t>
            </a:r>
          </a:p>
          <a:p>
            <a:pPr indent="304800" algn="just">
              <a:lnSpc>
                <a:spcPct val="150000"/>
              </a:lnSpc>
              <a:buNone/>
            </a:pP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呼叫结束时，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Tsapi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服务发起停止录音请求给录音服务器，录音系统停止录音，</a:t>
            </a:r>
            <a:r>
              <a:rPr lang="tr-TR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DMCC/Cmapi</a:t>
            </a: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服务拆除会议；</a:t>
            </a:r>
          </a:p>
          <a:p>
            <a:pPr indent="304800" algn="just">
              <a:lnSpc>
                <a:spcPct val="150000"/>
              </a:lnSpc>
            </a:pPr>
            <a:r>
              <a:rPr lang="zh-CN" altLang="zh-CN" sz="11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录音记录写入数据库，录音文件写入存储介质。</a:t>
            </a:r>
          </a:p>
          <a:p>
            <a:pPr indent="304800" algn="just">
              <a:lnSpc>
                <a:spcPct val="150000"/>
              </a:lnSpc>
            </a:pPr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958CFCB-ACA8-4945-AD6F-63F895CE8470}"/>
              </a:ext>
            </a:extLst>
          </p:cNvPr>
          <p:cNvSpPr txBox="1"/>
          <p:nvPr/>
        </p:nvSpPr>
        <p:spPr bwMode="auto">
          <a:xfrm>
            <a:off x="1141483" y="1514299"/>
            <a:ext cx="4887738" cy="609600"/>
          </a:xfrm>
          <a:prstGeom prst="rect">
            <a:avLst/>
          </a:prstGeom>
          <a:solidFill>
            <a:srgbClr val="F59D56"/>
          </a:solidFill>
          <a:ln w="38100">
            <a:solidFill>
              <a:srgbClr val="F59D56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9DF"/>
              </a:buClr>
              <a:buSzPct val="100000"/>
              <a:buFont typeface="Courier New" panose="02070309020205020404" pitchFamily="49" charset="0"/>
              <a:buNone/>
              <a:defRPr/>
            </a:pPr>
            <a:r>
              <a:rPr lang="zh-CN" altLang="en-US" sz="220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主</a:t>
            </a: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动方式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grpSp>
        <p:nvGrpSpPr>
          <p:cNvPr id="8" name="Group 29">
            <a:extLst>
              <a:ext uri="{FF2B5EF4-FFF2-40B4-BE49-F238E27FC236}">
                <a16:creationId xmlns:a16="http://schemas.microsoft.com/office/drawing/2014/main" id="{90CA6C73-8CBD-4E32-9F8C-AEAD31E29DD8}"/>
              </a:ext>
            </a:extLst>
          </p:cNvPr>
          <p:cNvGrpSpPr/>
          <p:nvPr/>
        </p:nvGrpSpPr>
        <p:grpSpPr>
          <a:xfrm>
            <a:off x="264525" y="1344166"/>
            <a:ext cx="1009651" cy="1011237"/>
            <a:chOff x="3843338" y="3252788"/>
            <a:chExt cx="1009650" cy="1011237"/>
          </a:xfrm>
          <a:solidFill>
            <a:srgbClr val="F59D56"/>
          </a:solidFill>
        </p:grpSpPr>
        <p:sp>
          <p:nvSpPr>
            <p:cNvPr id="9" name="Oval 30">
              <a:extLst>
                <a:ext uri="{FF2B5EF4-FFF2-40B4-BE49-F238E27FC236}">
                  <a16:creationId xmlns:a16="http://schemas.microsoft.com/office/drawing/2014/main" id="{5CF771EE-08FE-427F-9881-A07BA987CD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3338" y="3252788"/>
              <a:ext cx="1009650" cy="1011237"/>
            </a:xfrm>
            <a:prstGeom prst="ellipse">
              <a:avLst/>
            </a:prstGeom>
            <a:grpFill/>
            <a:ln w="28575" cap="flat" cmpd="sng" algn="ctr">
              <a:solidFill>
                <a:srgbClr val="F59D56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10" name="Picture 100">
              <a:extLst>
                <a:ext uri="{FF2B5EF4-FFF2-40B4-BE49-F238E27FC236}">
                  <a16:creationId xmlns:a16="http://schemas.microsoft.com/office/drawing/2014/main" id="{4C6B406F-AFA6-4480-8905-D236018D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4788" y="3482975"/>
              <a:ext cx="636587" cy="5032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669DC7FE-24B1-ABEF-77F2-C582F1A97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700" y="1705455"/>
            <a:ext cx="5274310" cy="368744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087A6C4-39D6-5803-6C3A-4883DEDA6ECA}"/>
              </a:ext>
            </a:extLst>
          </p:cNvPr>
          <p:cNvSpPr txBox="1"/>
          <p:nvPr/>
        </p:nvSpPr>
        <p:spPr>
          <a:xfrm>
            <a:off x="6096856" y="5351544"/>
            <a:ext cx="6095144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方式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录音基本原理类似，但不再建立单步会议，   转为向媒体资源板申请媒体流</a:t>
            </a:r>
            <a:endParaRPr lang="en-US" altLang="zh-CN" sz="1600" kern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1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ACCB8D-AF51-4409-BA84-618C31D03D64}"/>
              </a:ext>
            </a:extLst>
          </p:cNvPr>
          <p:cNvSpPr/>
          <p:nvPr/>
        </p:nvSpPr>
        <p:spPr>
          <a:xfrm>
            <a:off x="435006" y="1042149"/>
            <a:ext cx="7089743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VCLog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SIPRec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SIP 2.0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协议与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SBC/ PBX/ Gateway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进行通信</a:t>
            </a:r>
            <a:endParaRPr lang="en-US" altLang="zh-CN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VCLog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SIPRec</a:t>
            </a: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信令协议支持</a:t>
            </a:r>
            <a:r>
              <a:rPr lang="en-US" altLang="zh-CN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DP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TLS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，不支持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TCP</a:t>
            </a:r>
          </a:p>
          <a:p>
            <a:pPr marL="285750" indent="-285750" algn="l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支持接收</a:t>
            </a:r>
            <a:r>
              <a:rPr lang="en-US" altLang="zh-CN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RTP</a:t>
            </a: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媒体流，即话机的</a:t>
            </a:r>
            <a:r>
              <a:rPr lang="en-US" altLang="zh-CN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incoming RTP </a:t>
            </a: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outgoing RTP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心跳检测：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SBC</a:t>
            </a:r>
            <a:r>
              <a:rPr lang="zh-CN" altLang="en-US" b="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OPTIONS/REGISTER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消息，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Recording System 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回复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200OK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呼叫建立和释放：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SBC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INVITE/BYE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消息，</a:t>
            </a:r>
            <a:r>
              <a:rPr lang="en-US" altLang="zh-CN" b="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VCLog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回复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200OK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开始进行录音，或者回复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SIP486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消息，告知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PBX 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当前</a:t>
            </a:r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Recording System</a:t>
            </a:r>
            <a:r>
              <a:rPr lang="zh-CN" altLang="en-US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没有录音资源。</a:t>
            </a:r>
            <a:endParaRPr lang="zh-CN" altLang="zh-CN" b="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B1772E9-FDFE-4ACC-893E-E6E244C3F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221" y="1522574"/>
            <a:ext cx="1850912" cy="771168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CED9FC75-9E9B-493A-9CF7-E343D1DF5B7E}"/>
              </a:ext>
            </a:extLst>
          </p:cNvPr>
          <p:cNvSpPr/>
          <p:nvPr/>
        </p:nvSpPr>
        <p:spPr>
          <a:xfrm>
            <a:off x="9313018" y="1312903"/>
            <a:ext cx="17493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SBC/PBX/Gateway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8528F87-5BC8-47E5-8701-5ADFBA6ECBD5}"/>
              </a:ext>
            </a:extLst>
          </p:cNvPr>
          <p:cNvSpPr/>
          <p:nvPr/>
        </p:nvSpPr>
        <p:spPr>
          <a:xfrm>
            <a:off x="9324876" y="4716200"/>
            <a:ext cx="17256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Recording System</a:t>
            </a:r>
            <a:endParaRPr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D9A6330-CE80-4DDC-96A1-BEB272987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407" y="3429000"/>
            <a:ext cx="1244974" cy="1241756"/>
          </a:xfrm>
          <a:prstGeom prst="rect">
            <a:avLst/>
          </a:prstGeom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4D243DC-F1A0-4F06-88D2-96FE0FA6EFC8}"/>
              </a:ext>
            </a:extLst>
          </p:cNvPr>
          <p:cNvCxnSpPr/>
          <p:nvPr/>
        </p:nvCxnSpPr>
        <p:spPr bwMode="auto">
          <a:xfrm>
            <a:off x="9871841" y="2458435"/>
            <a:ext cx="0" cy="869739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C3A4A91-C6C8-4E2A-A7D1-12EB017C9AF0}"/>
              </a:ext>
            </a:extLst>
          </p:cNvPr>
          <p:cNvCxnSpPr/>
          <p:nvPr/>
        </p:nvCxnSpPr>
        <p:spPr bwMode="auto">
          <a:xfrm>
            <a:off x="10309991" y="2458435"/>
            <a:ext cx="0" cy="869739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805D6B55-435A-4DB4-8E86-A2340EA39FC1}"/>
              </a:ext>
            </a:extLst>
          </p:cNvPr>
          <p:cNvSpPr/>
          <p:nvPr/>
        </p:nvSpPr>
        <p:spPr>
          <a:xfrm>
            <a:off x="9279877" y="2738279"/>
            <a:ext cx="4523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SIP</a:t>
            </a:r>
            <a:endParaRPr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CE3AD1C-DD30-4A27-A7D3-70B8A78AE3BC}"/>
              </a:ext>
            </a:extLst>
          </p:cNvPr>
          <p:cNvSpPr/>
          <p:nvPr/>
        </p:nvSpPr>
        <p:spPr>
          <a:xfrm>
            <a:off x="10400974" y="2739415"/>
            <a:ext cx="5098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RTP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9FC3BF-426C-2365-073E-8C535BC62D39}"/>
              </a:ext>
            </a:extLst>
          </p:cNvPr>
          <p:cNvSpPr txBox="1"/>
          <p:nvPr/>
        </p:nvSpPr>
        <p:spPr>
          <a:xfrm>
            <a:off x="3394004" y="385659"/>
            <a:ext cx="5271058" cy="4201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eaLnBrk="0" latinLnBrk="0" hangingPunct="0">
              <a:lnSpc>
                <a:spcPct val="75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VCLOG——</a:t>
            </a:r>
            <a:r>
              <a:rPr lang="zh-CN" altLang="en-US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主动式获取</a:t>
            </a:r>
            <a:r>
              <a:rPr lang="en-US" altLang="zh-CN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SIPREC</a:t>
            </a:r>
            <a:endParaRPr lang="zh-CN" altLang="en-US" sz="2800" b="1" dirty="0">
              <a:solidFill>
                <a:srgbClr val="F67E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8006266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78632" y="559667"/>
            <a:ext cx="4864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VCLOG-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音视频采集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67E4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 SPAN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67E4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63" y="1697143"/>
            <a:ext cx="5152305" cy="3664942"/>
          </a:xfrm>
          <a:prstGeom prst="rect">
            <a:avLst/>
          </a:prstGeom>
        </p:spPr>
      </p:pic>
      <p:sp>
        <p:nvSpPr>
          <p:cNvPr id="5" name="Text Placeholder 3"/>
          <p:cNvSpPr txBox="1"/>
          <p:nvPr/>
        </p:nvSpPr>
        <p:spPr bwMode="auto">
          <a:xfrm>
            <a:off x="1344527" y="1559524"/>
            <a:ext cx="4966436" cy="609600"/>
          </a:xfrm>
          <a:prstGeom prst="rect">
            <a:avLst/>
          </a:prstGeom>
          <a:solidFill>
            <a:srgbClr val="F59D56"/>
          </a:solidFill>
          <a:ln w="38100">
            <a:solidFill>
              <a:srgbClr val="F59D56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9DF"/>
              </a:buClr>
              <a:buSzPct val="100000"/>
              <a:buFont typeface="Courier New" panose="02070309020205020404" pitchFamily="49" charset="0"/>
              <a:buNone/>
              <a:defRPr/>
            </a:pP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被动方式（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SPAN</a:t>
            </a: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）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6" name="Text Placeholder 2"/>
          <p:cNvSpPr txBox="1"/>
          <p:nvPr/>
        </p:nvSpPr>
        <p:spPr>
          <a:xfrm>
            <a:off x="948307" y="2169123"/>
            <a:ext cx="5352436" cy="4129209"/>
          </a:xfrm>
          <a:prstGeom prst="rect">
            <a:avLst/>
          </a:prstGeom>
          <a:noFill/>
          <a:ln w="38100">
            <a:solidFill>
              <a:srgbClr val="F59D5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45720" rIns="13716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基于网络设施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(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网络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SPAN)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获取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媒体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语音数据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信令控制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</a:p>
          <a:p>
            <a:pPr lvl="2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信令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 lvl="2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CTI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事件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不影响现有的通信系统架构和部署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SPAN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位置：分机侧、网关侧、中继侧等等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集中式录音标准方式，可支持双活主备等高可靠方式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grpSp>
        <p:nvGrpSpPr>
          <p:cNvPr id="7" name="Group 31"/>
          <p:cNvGrpSpPr/>
          <p:nvPr/>
        </p:nvGrpSpPr>
        <p:grpSpPr>
          <a:xfrm>
            <a:off x="444397" y="1358708"/>
            <a:ext cx="1009651" cy="1011237"/>
            <a:chOff x="6459537" y="3292475"/>
            <a:chExt cx="1009650" cy="1011237"/>
          </a:xfrm>
          <a:solidFill>
            <a:srgbClr val="F59D56"/>
          </a:solidFill>
        </p:grpSpPr>
        <p:sp>
          <p:nvSpPr>
            <p:cNvPr id="8" name="Oval 32"/>
            <p:cNvSpPr>
              <a:spLocks noChangeAspect="1"/>
            </p:cNvSpPr>
            <p:nvPr/>
          </p:nvSpPr>
          <p:spPr bwMode="auto">
            <a:xfrm>
              <a:off x="6459537" y="3292475"/>
              <a:ext cx="1009650" cy="1011237"/>
            </a:xfrm>
            <a:prstGeom prst="ellipse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9" name="Picture 33" descr="handshake.eps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6228" y="3633278"/>
              <a:ext cx="666519" cy="419262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0" name="内容占位符 5"/>
          <p:cNvSpPr txBox="1"/>
          <p:nvPr/>
        </p:nvSpPr>
        <p:spPr bwMode="auto">
          <a:xfrm>
            <a:off x="8216706" y="1699511"/>
            <a:ext cx="2540182" cy="53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9DF"/>
              </a:buClr>
              <a:buSzPct val="100000"/>
              <a:buFont typeface="Courier New" panose="02070309020205020404" pitchFamily="49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分机侧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SPAN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DAE266-38A3-4CE5-8D78-F77298A6876C}"/>
              </a:ext>
            </a:extLst>
          </p:cNvPr>
          <p:cNvSpPr txBox="1"/>
          <p:nvPr/>
        </p:nvSpPr>
        <p:spPr>
          <a:xfrm>
            <a:off x="4926450" y="30795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获取方式区别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67E4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10">
            <a:extLst>
              <a:ext uri="{FF2B5EF4-FFF2-40B4-BE49-F238E27FC236}">
                <a16:creationId xmlns:a16="http://schemas.microsoft.com/office/drawing/2014/main" id="{37484183-FF32-41FB-A4D5-691D00CCBC34}"/>
              </a:ext>
            </a:extLst>
          </p:cNvPr>
          <p:cNvSpPr txBox="1">
            <a:spLocks/>
          </p:cNvSpPr>
          <p:nvPr/>
        </p:nvSpPr>
        <p:spPr>
          <a:xfrm>
            <a:off x="128702" y="831171"/>
            <a:ext cx="11280071" cy="44429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DMCC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方式：</a:t>
            </a:r>
            <a:endParaRPr lang="zh-CN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</a:t>
            </a:r>
            <a:r>
              <a:rPr lang="en-US" altLang="zh-CN" sz="105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avaya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dmcc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许可（双声道需要双倍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DMCC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许可），需要</a:t>
            </a:r>
            <a:r>
              <a:rPr lang="en-US" altLang="zh-CN" sz="105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avaya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侧支持做一些配置；</a:t>
            </a:r>
            <a:endParaRPr lang="zh-CN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仅支持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启动，当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故障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时会有录音丢失的风险（通过双活主被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AES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做规避）；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集中式部署，不需要做镜像，针对跨域或分点的场景存在优势；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单步会议仅支持单声道，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MR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支持单双声道，需要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avaya8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及以上版本。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方案成熟稳定；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SIPREC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SBC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（包括且不限于奥科、鼎信等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SBC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105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siprec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许可；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配合相较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DMCC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更为困难；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方案成熟稳定，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</a:p>
          <a:p>
            <a:pPr marL="285750" lvl="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不需要额外的许可和资源（若需要连接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AES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，则注册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的资源是相同的）；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信道（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补消息）和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启动，当</a:t>
            </a: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CTI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故障时仍可录制；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集中式部署，但需要考虑做镜像，需要考虑数据流经点，或增加额外的设备做数据汇聚；</a:t>
            </a: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需要配置分机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IP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，当分机</a:t>
            </a:r>
            <a:r>
              <a:rPr lang="en-US" altLang="zh-CN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IP</a:t>
            </a:r>
            <a:r>
              <a:rPr lang="zh-CN" altLang="en-US" sz="105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发生变化时，存在风险（有补充方案，但需要镜像支持）；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Span</a:t>
            </a: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支持双声道</a:t>
            </a:r>
            <a:endParaRPr lang="en-US" altLang="zh-CN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0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方案成熟稳定，不需要额外的许可；</a:t>
            </a:r>
            <a:endParaRPr lang="zh-CN" altLang="en-US" sz="105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5F5F6F9-A3B5-BBBE-70F0-EC957CA02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08160"/>
              </p:ext>
            </p:extLst>
          </p:nvPr>
        </p:nvGraphicFramePr>
        <p:xfrm>
          <a:off x="4434450" y="2662205"/>
          <a:ext cx="69236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40">
                  <a:extLst>
                    <a:ext uri="{9D8B030D-6E8A-4147-A177-3AD203B41FA5}">
                      <a16:colId xmlns:a16="http://schemas.microsoft.com/office/drawing/2014/main" val="3003573439"/>
                    </a:ext>
                  </a:extLst>
                </a:gridCol>
                <a:gridCol w="2295276">
                  <a:extLst>
                    <a:ext uri="{9D8B030D-6E8A-4147-A177-3AD203B41FA5}">
                      <a16:colId xmlns:a16="http://schemas.microsoft.com/office/drawing/2014/main" val="558087483"/>
                    </a:ext>
                  </a:extLst>
                </a:gridCol>
                <a:gridCol w="852179">
                  <a:extLst>
                    <a:ext uri="{9D8B030D-6E8A-4147-A177-3AD203B41FA5}">
                      <a16:colId xmlns:a16="http://schemas.microsoft.com/office/drawing/2014/main" val="3529724241"/>
                    </a:ext>
                  </a:extLst>
                </a:gridCol>
                <a:gridCol w="2609637">
                  <a:extLst>
                    <a:ext uri="{9D8B030D-6E8A-4147-A177-3AD203B41FA5}">
                      <a16:colId xmlns:a16="http://schemas.microsoft.com/office/drawing/2014/main" val="3991650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10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推送服务器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16C24G </a:t>
                      </a:r>
                      <a:r>
                        <a:rPr lang="zh-CN" altLang="en-US" dirty="0"/>
                        <a:t>至少</a:t>
                      </a:r>
                      <a:r>
                        <a:rPr lang="en-US" altLang="zh-CN" dirty="0"/>
                        <a:t>1T</a:t>
                      </a:r>
                      <a:r>
                        <a:rPr lang="zh-CN" altLang="en-US" dirty="0"/>
                        <a:t>本地存储 至少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个及以上千兆网口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Windows Server2016</a:t>
                      </a:r>
                      <a:r>
                        <a:rPr lang="zh-CN" altLang="en-US" dirty="0"/>
                        <a:t>及以上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强制录音，加密存储，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天后删除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515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81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表, 雷达图&#10;&#10;描述已自动生成">
            <a:extLst>
              <a:ext uri="{FF2B5EF4-FFF2-40B4-BE49-F238E27FC236}">
                <a16:creationId xmlns:a16="http://schemas.microsoft.com/office/drawing/2014/main" id="{86BC16E2-F875-4326-AC99-6A90B81490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1867523"/>
            <a:ext cx="4529085" cy="4457850"/>
          </a:xfrm>
          <a:prstGeom prst="rect">
            <a:avLst/>
          </a:prstGeom>
        </p:spPr>
      </p:pic>
      <p:sp>
        <p:nvSpPr>
          <p:cNvPr id="5" name="Text Placeholder 2"/>
          <p:cNvSpPr txBox="1"/>
          <p:nvPr/>
        </p:nvSpPr>
        <p:spPr>
          <a:xfrm>
            <a:off x="578876" y="1867523"/>
            <a:ext cx="8898531" cy="4485652"/>
          </a:xfrm>
          <a:prstGeom prst="rect">
            <a:avLst/>
          </a:prstGeom>
          <a:ln w="38100">
            <a:solidFill>
              <a:srgbClr val="F59D56"/>
            </a:solidFill>
          </a:ln>
        </p:spPr>
        <p:txBody>
          <a:bodyPr lIns="137160" rIns="137160" anchor="t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400" latinLnBrk="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Placeholder 3"/>
          <p:cNvSpPr txBox="1"/>
          <p:nvPr/>
        </p:nvSpPr>
        <p:spPr bwMode="auto">
          <a:xfrm>
            <a:off x="925662" y="1238236"/>
            <a:ext cx="8551745" cy="594072"/>
          </a:xfrm>
          <a:prstGeom prst="rect">
            <a:avLst/>
          </a:prstGeom>
          <a:solidFill>
            <a:srgbClr val="F59D56"/>
          </a:solidFill>
          <a:ln w="38100">
            <a:solidFill>
              <a:srgbClr val="F59D56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ourier New" panose="02070309020205020404" pitchFamily="49" charset="0"/>
              <a:defRPr kern="1200">
                <a:solidFill>
                  <a:srgbClr val="3333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365125" indent="-2730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64008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Courier New" panose="02070309020205020404" pitchFamily="49" charset="0"/>
              <a:buChar char="o"/>
              <a:defRPr sz="14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914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18745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79DF"/>
              </a:buClr>
              <a:defRPr/>
            </a:pPr>
            <a:r>
              <a:rPr lang="zh-CN" altLang="en-US" sz="2200" dirty="0">
                <a:solidFill>
                  <a:schemeClr val="tx1"/>
                </a:solidFill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rPr>
              <a:t>实时语音推送（</a:t>
            </a:r>
            <a:r>
              <a:rPr lang="en-US" altLang="zh-CN" sz="2200" dirty="0">
                <a:solidFill>
                  <a:schemeClr val="tx1"/>
                </a:solidFill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rPr>
              <a:t>IBAE</a:t>
            </a:r>
            <a:r>
              <a:rPr lang="zh-CN" altLang="en-US" sz="2200" dirty="0">
                <a:solidFill>
                  <a:schemeClr val="tx1"/>
                </a:solidFill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rPr>
              <a:t>系统）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7" name="Group 29"/>
          <p:cNvGrpSpPr/>
          <p:nvPr/>
        </p:nvGrpSpPr>
        <p:grpSpPr>
          <a:xfrm>
            <a:off x="73057" y="1068104"/>
            <a:ext cx="1033630" cy="985478"/>
            <a:chOff x="3843338" y="3252788"/>
            <a:chExt cx="1009650" cy="1011237"/>
          </a:xfrm>
          <a:solidFill>
            <a:srgbClr val="F59D56"/>
          </a:solidFill>
        </p:grpSpPr>
        <p:sp>
          <p:nvSpPr>
            <p:cNvPr id="8" name="Oval 30"/>
            <p:cNvSpPr>
              <a:spLocks noChangeAspect="1"/>
            </p:cNvSpPr>
            <p:nvPr/>
          </p:nvSpPr>
          <p:spPr>
            <a:xfrm>
              <a:off x="3843338" y="3252788"/>
              <a:ext cx="1009650" cy="1011237"/>
            </a:xfrm>
            <a:prstGeom prst="ellipse">
              <a:avLst/>
            </a:prstGeom>
            <a:grpFill/>
            <a:ln w="28575" cap="flat" cmpd="sng" algn="ctr">
              <a:solidFill>
                <a:srgbClr val="F59D56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9" name="Picture 10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4788" y="3482975"/>
              <a:ext cx="636587" cy="5032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35007" y="0"/>
            <a:ext cx="9042400" cy="618565"/>
          </a:xfrm>
        </p:spPr>
        <p:txBody>
          <a:bodyPr anchor="b" anchorCtr="0"/>
          <a:lstStyle/>
          <a:p>
            <a:r>
              <a:rPr lang="zh-CN" altLang="en-US" sz="2000" dirty="0">
                <a:solidFill>
                  <a:srgbClr val="45217D"/>
                </a:solidFill>
                <a:sym typeface="+mn-ea"/>
              </a:rPr>
              <a:t>智能化应用扩展</a:t>
            </a:r>
            <a:endParaRPr lang="zh-CN" altLang="en-US" sz="2000" dirty="0">
              <a:solidFill>
                <a:srgbClr val="45217D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F2E20C-4922-44B4-9752-E229AD8AC70C}"/>
              </a:ext>
            </a:extLst>
          </p:cNvPr>
          <p:cNvSpPr/>
          <p:nvPr/>
        </p:nvSpPr>
        <p:spPr>
          <a:xfrm>
            <a:off x="725342" y="4665160"/>
            <a:ext cx="33253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/>
              <a:t>转发立体声数据到实时</a:t>
            </a:r>
            <a:r>
              <a:rPr lang="en-US" altLang="zh-CN" sz="1600" b="0" dirty="0"/>
              <a:t>ASR</a:t>
            </a:r>
            <a:r>
              <a:rPr lang="zh-CN" altLang="en-US" sz="1600" b="0" dirty="0"/>
              <a:t>引擎</a:t>
            </a:r>
            <a:endParaRPr lang="en-US" altLang="zh-CN" sz="1600" b="0" dirty="0"/>
          </a:p>
          <a:p>
            <a:pPr algn="l"/>
            <a:r>
              <a:rPr lang="zh-CN" altLang="en-US" sz="1600" b="0" dirty="0"/>
              <a:t>转发语音流到情绪分析引擎</a:t>
            </a:r>
            <a:endParaRPr lang="en-US" altLang="zh-CN" sz="1600" b="0" dirty="0"/>
          </a:p>
          <a:p>
            <a:pPr algn="l"/>
            <a:r>
              <a:rPr lang="zh-CN" altLang="en-US" sz="1600" b="0" dirty="0"/>
              <a:t>转发语音流到声纹引擎</a:t>
            </a:r>
            <a:endParaRPr lang="en-US" altLang="zh-CN" sz="1600" b="0" dirty="0"/>
          </a:p>
          <a:p>
            <a:pPr algn="l"/>
            <a:r>
              <a:rPr lang="zh-CN" altLang="en-US" sz="1600" b="0" dirty="0"/>
              <a:t>转发视频流到人脸引擎</a:t>
            </a:r>
            <a:endParaRPr lang="en-US" altLang="zh-CN" sz="1600" b="0" dirty="0"/>
          </a:p>
          <a:p>
            <a:pPr algn="l"/>
            <a:r>
              <a:rPr lang="zh-CN" altLang="en-US" sz="1600" b="0" dirty="0"/>
              <a:t>转发静态图片到</a:t>
            </a:r>
            <a:r>
              <a:rPr lang="en-US" altLang="zh-CN" sz="1600" b="0" dirty="0"/>
              <a:t>OCR</a:t>
            </a:r>
          </a:p>
          <a:p>
            <a:pPr algn="l"/>
            <a:r>
              <a:rPr lang="zh-CN" altLang="en-US" sz="1600" b="0" dirty="0"/>
              <a:t>转发动态图片到如</a:t>
            </a:r>
            <a:r>
              <a:rPr lang="en-US" altLang="zh-CN" sz="1600" b="0" dirty="0"/>
              <a:t>Face++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3430630-BC31-4DA2-A8DE-BB721CA0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85" y="2277906"/>
            <a:ext cx="2975415" cy="23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25435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框 145">
            <a:extLst>
              <a:ext uri="{FF2B5EF4-FFF2-40B4-BE49-F238E27FC236}">
                <a16:creationId xmlns:a16="http://schemas.microsoft.com/office/drawing/2014/main" id="{776F41DB-08AC-4EAB-B2AF-5413842D4809}"/>
              </a:ext>
            </a:extLst>
          </p:cNvPr>
          <p:cNvSpPr txBox="1"/>
          <p:nvPr/>
        </p:nvSpPr>
        <p:spPr>
          <a:xfrm>
            <a:off x="551196" y="949392"/>
            <a:ext cx="5032147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131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实时语音识别、实时翻译、声纹识别、智能标签</a:t>
            </a: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4434EF6E-1A1C-4A5E-A200-22FB5DFCAFC5}"/>
              </a:ext>
            </a:extLst>
          </p:cNvPr>
          <p:cNvGrpSpPr/>
          <p:nvPr/>
        </p:nvGrpSpPr>
        <p:grpSpPr>
          <a:xfrm>
            <a:off x="621378" y="1636775"/>
            <a:ext cx="9448106" cy="3848239"/>
            <a:chOff x="352599" y="1779477"/>
            <a:chExt cx="8296275" cy="3106735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8A1E4538-A5A6-499F-9F0C-8221127EEA87}"/>
                </a:ext>
              </a:extLst>
            </p:cNvPr>
            <p:cNvSpPr/>
            <p:nvPr/>
          </p:nvSpPr>
          <p:spPr bwMode="auto">
            <a:xfrm>
              <a:off x="362124" y="3606687"/>
              <a:ext cx="1535113" cy="90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矩形 4">
              <a:extLst>
                <a:ext uri="{FF2B5EF4-FFF2-40B4-BE49-F238E27FC236}">
                  <a16:creationId xmlns:a16="http://schemas.microsoft.com/office/drawing/2014/main" id="{E4028053-35A1-4BC7-A738-8DA6D5A3A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689" y="2065043"/>
              <a:ext cx="2926185" cy="2813553"/>
            </a:xfrm>
            <a:prstGeom prst="rect">
              <a:avLst/>
            </a:prstGeom>
            <a:solidFill>
              <a:srgbClr val="00B050"/>
            </a:solidFill>
            <a:ln w="9525" algn="ctr">
              <a:solidFill>
                <a:srgbClr val="500F14"/>
              </a:solidFill>
              <a:round/>
              <a:headEnd/>
              <a:tailEnd/>
            </a:ln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矩形 5">
              <a:extLst>
                <a:ext uri="{FF2B5EF4-FFF2-40B4-BE49-F238E27FC236}">
                  <a16:creationId xmlns:a16="http://schemas.microsoft.com/office/drawing/2014/main" id="{3489D3A4-42A7-42AB-B076-0D6FF91BB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791" y="2060602"/>
              <a:ext cx="2128898" cy="2817994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813411BA-E596-4D34-BD0A-3CD9866C4BFE}"/>
                </a:ext>
              </a:extLst>
            </p:cNvPr>
            <p:cNvSpPr/>
            <p:nvPr/>
          </p:nvSpPr>
          <p:spPr bwMode="auto">
            <a:xfrm>
              <a:off x="362124" y="2065224"/>
              <a:ext cx="1535113" cy="1285875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200" dirty="0">
                <a:ln>
                  <a:solidFill>
                    <a:schemeClr val="bg1">
                      <a:lumMod val="85000"/>
                    </a:schemeClr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 7">
              <a:extLst>
                <a:ext uri="{FF2B5EF4-FFF2-40B4-BE49-F238E27FC236}">
                  <a16:creationId xmlns:a16="http://schemas.microsoft.com/office/drawing/2014/main" id="{5F973612-0C19-45F8-A161-FC8B41041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428" y="2065043"/>
              <a:ext cx="1695250" cy="2817994"/>
            </a:xfrm>
            <a:prstGeom prst="rect">
              <a:avLst/>
            </a:prstGeom>
            <a:solidFill>
              <a:srgbClr val="00B0F0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3" name="图片 8">
              <a:extLst>
                <a:ext uri="{FF2B5EF4-FFF2-40B4-BE49-F238E27FC236}">
                  <a16:creationId xmlns:a16="http://schemas.microsoft.com/office/drawing/2014/main" id="{14C05C3C-354B-4ED9-BD76-0E38632130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650" y="3825736"/>
              <a:ext cx="669900" cy="494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4" name="图片 9">
              <a:extLst>
                <a:ext uri="{FF2B5EF4-FFF2-40B4-BE49-F238E27FC236}">
                  <a16:creationId xmlns:a16="http://schemas.microsoft.com/office/drawing/2014/main" id="{C3C740FA-2CDA-4B73-BB30-2CB3B7BE99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430" y="2354517"/>
              <a:ext cx="496756" cy="58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5" name="组合 10">
              <a:extLst>
                <a:ext uri="{FF2B5EF4-FFF2-40B4-BE49-F238E27FC236}">
                  <a16:creationId xmlns:a16="http://schemas.microsoft.com/office/drawing/2014/main" id="{E590A55E-9B41-4637-998A-24EEEA11AA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3571" y="2534885"/>
              <a:ext cx="664270" cy="711389"/>
              <a:chOff x="4104805" y="3811743"/>
              <a:chExt cx="845936" cy="879374"/>
            </a:xfrm>
          </p:grpSpPr>
          <p:pic>
            <p:nvPicPr>
              <p:cNvPr id="192" name="图片 46">
                <a:extLst>
                  <a:ext uri="{FF2B5EF4-FFF2-40B4-BE49-F238E27FC236}">
                    <a16:creationId xmlns:a16="http://schemas.microsoft.com/office/drawing/2014/main" id="{741BE532-6C8F-43EA-B881-5FC17853C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805" y="381174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3" name="图片 47">
                <a:extLst>
                  <a:ext uri="{FF2B5EF4-FFF2-40B4-BE49-F238E27FC236}">
                    <a16:creationId xmlns:a16="http://schemas.microsoft.com/office/drawing/2014/main" id="{5D0F8BDC-64BA-4BE2-8408-107691C5B9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7430" y="391017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6" name="组合 11">
              <a:extLst>
                <a:ext uri="{FF2B5EF4-FFF2-40B4-BE49-F238E27FC236}">
                  <a16:creationId xmlns:a16="http://schemas.microsoft.com/office/drawing/2014/main" id="{CEDA2BF4-4AED-474D-ACC0-1AB6D150DA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3571" y="3717256"/>
              <a:ext cx="664270" cy="711389"/>
              <a:chOff x="4104805" y="5081589"/>
              <a:chExt cx="845936" cy="879374"/>
            </a:xfrm>
          </p:grpSpPr>
          <p:pic>
            <p:nvPicPr>
              <p:cNvPr id="190" name="图片 44">
                <a:extLst>
                  <a:ext uri="{FF2B5EF4-FFF2-40B4-BE49-F238E27FC236}">
                    <a16:creationId xmlns:a16="http://schemas.microsoft.com/office/drawing/2014/main" id="{7918EA1E-8537-4E74-9B26-FF3355918A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805" y="5081589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1" name="图片 45">
                <a:extLst>
                  <a:ext uri="{FF2B5EF4-FFF2-40B4-BE49-F238E27FC236}">
                    <a16:creationId xmlns:a16="http://schemas.microsoft.com/office/drawing/2014/main" id="{E0FCCCF3-9C46-4165-96BF-CFDE9023A2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7430" y="5180019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7" name="矩形 12">
              <a:extLst>
                <a:ext uri="{FF2B5EF4-FFF2-40B4-BE49-F238E27FC236}">
                  <a16:creationId xmlns:a16="http://schemas.microsoft.com/office/drawing/2014/main" id="{86144F42-F066-404E-ABBF-02678D500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43" y="2983377"/>
              <a:ext cx="1521994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音视频采集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矩形 13">
              <a:extLst>
                <a:ext uri="{FF2B5EF4-FFF2-40B4-BE49-F238E27FC236}">
                  <a16:creationId xmlns:a16="http://schemas.microsoft.com/office/drawing/2014/main" id="{4762623F-CCEB-466E-8E82-F5780AF09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464" y="4312722"/>
              <a:ext cx="702663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应用平台</a:t>
              </a:r>
            </a:p>
          </p:txBody>
        </p:sp>
        <p:grpSp>
          <p:nvGrpSpPr>
            <p:cNvPr id="159" name="组合 14">
              <a:extLst>
                <a:ext uri="{FF2B5EF4-FFF2-40B4-BE49-F238E27FC236}">
                  <a16:creationId xmlns:a16="http://schemas.microsoft.com/office/drawing/2014/main" id="{FDE31928-8880-4928-931C-7A83D0290D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9450" y="2566260"/>
              <a:ext cx="664270" cy="711389"/>
              <a:chOff x="4104805" y="3811743"/>
              <a:chExt cx="845936" cy="879374"/>
            </a:xfrm>
          </p:grpSpPr>
          <p:pic>
            <p:nvPicPr>
              <p:cNvPr id="188" name="图片 42">
                <a:extLst>
                  <a:ext uri="{FF2B5EF4-FFF2-40B4-BE49-F238E27FC236}">
                    <a16:creationId xmlns:a16="http://schemas.microsoft.com/office/drawing/2014/main" id="{4DF9E441-6E2A-4484-9D1F-72CDFEEAA8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805" y="381174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9" name="图片 43">
                <a:extLst>
                  <a:ext uri="{FF2B5EF4-FFF2-40B4-BE49-F238E27FC236}">
                    <a16:creationId xmlns:a16="http://schemas.microsoft.com/office/drawing/2014/main" id="{4C239C16-1390-47B5-9AFC-53BD33F8A9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7430" y="391017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0" name="组合 15">
              <a:extLst>
                <a:ext uri="{FF2B5EF4-FFF2-40B4-BE49-F238E27FC236}">
                  <a16:creationId xmlns:a16="http://schemas.microsoft.com/office/drawing/2014/main" id="{41F12C81-CDC8-4197-AE7A-473391A57A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9677" y="2566260"/>
              <a:ext cx="664270" cy="711389"/>
              <a:chOff x="4104805" y="3811743"/>
              <a:chExt cx="845936" cy="879374"/>
            </a:xfrm>
          </p:grpSpPr>
          <p:pic>
            <p:nvPicPr>
              <p:cNvPr id="186" name="图片 40">
                <a:extLst>
                  <a:ext uri="{FF2B5EF4-FFF2-40B4-BE49-F238E27FC236}">
                    <a16:creationId xmlns:a16="http://schemas.microsoft.com/office/drawing/2014/main" id="{34F42409-791B-40F9-9A5E-EFAB24D946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805" y="381174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7" name="图片 41">
                <a:extLst>
                  <a:ext uri="{FF2B5EF4-FFF2-40B4-BE49-F238E27FC236}">
                    <a16:creationId xmlns:a16="http://schemas.microsoft.com/office/drawing/2014/main" id="{B198A3B7-4639-4F73-8CCA-FD2B00479E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7430" y="3910173"/>
                <a:ext cx="583311" cy="780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161" name="直接箭头连接符 16">
              <a:extLst>
                <a:ext uri="{FF2B5EF4-FFF2-40B4-BE49-F238E27FC236}">
                  <a16:creationId xmlns:a16="http://schemas.microsoft.com/office/drawing/2014/main" id="{991E2203-9A1F-4DDE-ACC1-2808277209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0158" y="2762284"/>
              <a:ext cx="1032063" cy="0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2" name="直接箭头连接符 17">
              <a:extLst>
                <a:ext uri="{FF2B5EF4-FFF2-40B4-BE49-F238E27FC236}">
                  <a16:creationId xmlns:a16="http://schemas.microsoft.com/office/drawing/2014/main" id="{29B88431-6CB5-45C6-B269-C0A76E6C60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91531" y="2882141"/>
              <a:ext cx="1032063" cy="0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3" name="直接箭头连接符 18">
              <a:extLst>
                <a:ext uri="{FF2B5EF4-FFF2-40B4-BE49-F238E27FC236}">
                  <a16:creationId xmlns:a16="http://schemas.microsoft.com/office/drawing/2014/main" id="{5E0987A6-8C13-4D04-929F-3A42DA3B11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97835" y="2859121"/>
              <a:ext cx="1032063" cy="0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4" name="直接箭头连接符 19">
              <a:extLst>
                <a:ext uri="{FF2B5EF4-FFF2-40B4-BE49-F238E27FC236}">
                  <a16:creationId xmlns:a16="http://schemas.microsoft.com/office/drawing/2014/main" id="{489ECD9B-4326-462C-8EF4-107BCF178D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03155" y="3277650"/>
              <a:ext cx="0" cy="379849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5" name="直接箭头连接符 20">
              <a:extLst>
                <a:ext uri="{FF2B5EF4-FFF2-40B4-BE49-F238E27FC236}">
                  <a16:creationId xmlns:a16="http://schemas.microsoft.com/office/drawing/2014/main" id="{2B5ECCCE-842B-4A5F-B334-35843B3211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68415" y="3067523"/>
              <a:ext cx="1355178" cy="678586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B6CFA4C5-C3A2-4B00-B44F-41D1372FA79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459088" y="4141674"/>
              <a:ext cx="1102975" cy="0"/>
            </a:xfrm>
            <a:prstGeom prst="straightConnector1">
              <a:avLst/>
            </a:prstGeom>
            <a:ln w="9525">
              <a:solidFill>
                <a:srgbClr val="4D148C"/>
              </a:solidFill>
              <a:prstDash val="dashDot"/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0A76963F-3FE1-479B-844A-3D0612E8194A}"/>
                </a:ext>
              </a:extLst>
            </p:cNvPr>
            <p:cNvCxnSpPr/>
            <p:nvPr/>
          </p:nvCxnSpPr>
          <p:spPr bwMode="auto">
            <a:xfrm flipH="1">
              <a:off x="3235499" y="3335224"/>
              <a:ext cx="1254125" cy="661988"/>
            </a:xfrm>
            <a:prstGeom prst="straightConnector1">
              <a:avLst/>
            </a:prstGeom>
            <a:ln w="9525">
              <a:solidFill>
                <a:srgbClr val="4D148C"/>
              </a:solidFill>
              <a:prstDash val="dashDot"/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2AF4564D-86AD-49BD-96C1-D5A2E391CD1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03999" y="3101862"/>
              <a:ext cx="1025525" cy="0"/>
            </a:xfrm>
            <a:prstGeom prst="straightConnector1">
              <a:avLst/>
            </a:prstGeom>
            <a:ln w="9525">
              <a:solidFill>
                <a:srgbClr val="4D148C"/>
              </a:solidFill>
              <a:prstDash val="dashDot"/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69" name="矩形 24">
              <a:extLst>
                <a:ext uri="{FF2B5EF4-FFF2-40B4-BE49-F238E27FC236}">
                  <a16:creationId xmlns:a16="http://schemas.microsoft.com/office/drawing/2014/main" id="{64921A5C-F7CC-4195-B4FA-9EA477854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6515" y="3200159"/>
              <a:ext cx="702663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记录系统</a:t>
              </a:r>
            </a:p>
          </p:txBody>
        </p:sp>
        <p:sp>
          <p:nvSpPr>
            <p:cNvPr id="170" name="矩形 25">
              <a:extLst>
                <a:ext uri="{FF2B5EF4-FFF2-40B4-BE49-F238E27FC236}">
                  <a16:creationId xmlns:a16="http://schemas.microsoft.com/office/drawing/2014/main" id="{A48DC844-549C-4677-B068-C98A6D963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129" y="4456627"/>
              <a:ext cx="1108046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数据管理服务器</a:t>
              </a:r>
            </a:p>
          </p:txBody>
        </p:sp>
        <p:sp>
          <p:nvSpPr>
            <p:cNvPr id="171" name="矩形 26">
              <a:extLst>
                <a:ext uri="{FF2B5EF4-FFF2-40B4-BE49-F238E27FC236}">
                  <a16:creationId xmlns:a16="http://schemas.microsoft.com/office/drawing/2014/main" id="{52B83FBE-0465-4705-8A8C-75DC05D33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139" y="2255246"/>
              <a:ext cx="702663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实时转发</a:t>
              </a: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B9CB692-790D-4E7B-8E5A-CFF96867D334}"/>
                </a:ext>
              </a:extLst>
            </p:cNvPr>
            <p:cNvSpPr/>
            <p:nvPr/>
          </p:nvSpPr>
          <p:spPr bwMode="auto">
            <a:xfrm>
              <a:off x="7021687" y="2354149"/>
              <a:ext cx="1444625" cy="216170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人工智能分析引擎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科大讯飞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捷通华声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普强信息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远鉴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效生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阿里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追一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竹间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Nuance</a:t>
              </a: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  <a:p>
              <a:pPr marL="285750" indent="-285750" algn="ctr" eaLnBrk="1" hangingPunct="1">
                <a:buFont typeface="Wingdings" panose="05000000000000000000" pitchFamily="2" charset="2"/>
                <a:buChar char="ü"/>
                <a:defRPr/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defRPr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矩形 28">
              <a:extLst>
                <a:ext uri="{FF2B5EF4-FFF2-40B4-BE49-F238E27FC236}">
                  <a16:creationId xmlns:a16="http://schemas.microsoft.com/office/drawing/2014/main" id="{E084EA53-EEDF-4BAA-AF9D-080D4804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250" y="2545182"/>
              <a:ext cx="837791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音视频数据</a:t>
              </a:r>
            </a:p>
          </p:txBody>
        </p:sp>
        <p:sp>
          <p:nvSpPr>
            <p:cNvPr id="174" name="矩形 29">
              <a:extLst>
                <a:ext uri="{FF2B5EF4-FFF2-40B4-BE49-F238E27FC236}">
                  <a16:creationId xmlns:a16="http://schemas.microsoft.com/office/drawing/2014/main" id="{337E4803-AD8F-4D65-A0D1-5DA0A3B9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893" y="2545182"/>
              <a:ext cx="1300885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发送音</a:t>
              </a: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视频数据流</a:t>
              </a:r>
            </a:p>
          </p:txBody>
        </p:sp>
        <p:sp>
          <p:nvSpPr>
            <p:cNvPr id="175" name="矩形 30">
              <a:extLst>
                <a:ext uri="{FF2B5EF4-FFF2-40B4-BE49-F238E27FC236}">
                  <a16:creationId xmlns:a16="http://schemas.microsoft.com/office/drawing/2014/main" id="{1BF3E806-75EF-4E40-8770-6CE2A3C47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341" y="2545182"/>
              <a:ext cx="959826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语音流</a:t>
              </a:r>
            </a:p>
          </p:txBody>
        </p:sp>
        <p:sp>
          <p:nvSpPr>
            <p:cNvPr id="176" name="矩形 31">
              <a:extLst>
                <a:ext uri="{FF2B5EF4-FFF2-40B4-BE49-F238E27FC236}">
                  <a16:creationId xmlns:a16="http://schemas.microsoft.com/office/drawing/2014/main" id="{DACFAFC0-5F56-4DC2-A2F6-9884BF243D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83453">
              <a:off x="3033218" y="3173979"/>
              <a:ext cx="972919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获取记录状态</a:t>
              </a:r>
            </a:p>
          </p:txBody>
        </p:sp>
        <p:sp>
          <p:nvSpPr>
            <p:cNvPr id="177" name="矩形 32">
              <a:extLst>
                <a:ext uri="{FF2B5EF4-FFF2-40B4-BE49-F238E27FC236}">
                  <a16:creationId xmlns:a16="http://schemas.microsoft.com/office/drawing/2014/main" id="{6629317E-184E-40D2-B46F-1106CE3160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33777">
              <a:off x="3540768" y="3757490"/>
              <a:ext cx="702663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结果消息</a:t>
              </a:r>
            </a:p>
          </p:txBody>
        </p:sp>
        <p:sp>
          <p:nvSpPr>
            <p:cNvPr id="178" name="矩形 33">
              <a:extLst>
                <a:ext uri="{FF2B5EF4-FFF2-40B4-BE49-F238E27FC236}">
                  <a16:creationId xmlns:a16="http://schemas.microsoft.com/office/drawing/2014/main" id="{9A20EEA0-BB1B-49BE-9522-DCA3AB3DC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3968" y="3111411"/>
              <a:ext cx="972919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分析结果返回</a:t>
              </a:r>
            </a:p>
          </p:txBody>
        </p:sp>
        <p:sp>
          <p:nvSpPr>
            <p:cNvPr id="179" name="矩形 34">
              <a:extLst>
                <a:ext uri="{FF2B5EF4-FFF2-40B4-BE49-F238E27FC236}">
                  <a16:creationId xmlns:a16="http://schemas.microsoft.com/office/drawing/2014/main" id="{76254D90-BDCB-4E53-87EA-9B533C77C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155" y="3903329"/>
              <a:ext cx="972919" cy="22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获取结果消息</a:t>
              </a:r>
            </a:p>
          </p:txBody>
        </p:sp>
        <p:grpSp>
          <p:nvGrpSpPr>
            <p:cNvPr id="180" name="组合 35">
              <a:extLst>
                <a:ext uri="{FF2B5EF4-FFF2-40B4-BE49-F238E27FC236}">
                  <a16:creationId xmlns:a16="http://schemas.microsoft.com/office/drawing/2014/main" id="{CEDF8642-AF7B-47B5-8775-4480AC852D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391" y="1779477"/>
              <a:ext cx="8285483" cy="250373"/>
              <a:chOff x="1089036" y="2824867"/>
              <a:chExt cx="10551421" cy="309495"/>
            </a:xfrm>
          </p:grpSpPr>
          <p:sp>
            <p:nvSpPr>
              <p:cNvPr id="182" name="矩形 36">
                <a:extLst>
                  <a:ext uri="{FF2B5EF4-FFF2-40B4-BE49-F238E27FC236}">
                    <a16:creationId xmlns:a16="http://schemas.microsoft.com/office/drawing/2014/main" id="{5E9DAF06-05E8-488C-8359-0D5379B52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4011" y="2824867"/>
                <a:ext cx="3726446" cy="309495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第三方人工智能分析引擎</a:t>
                </a:r>
              </a:p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矩形 37">
                <a:extLst>
                  <a:ext uri="{FF2B5EF4-FFF2-40B4-BE49-F238E27FC236}">
                    <a16:creationId xmlns:a16="http://schemas.microsoft.com/office/drawing/2014/main" id="{37F667E1-E171-4F4E-BBBD-230AA4072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2894" y="2824867"/>
                <a:ext cx="2711116" cy="309495"/>
              </a:xfrm>
              <a:prstGeom prst="rect">
                <a:avLst/>
              </a:prstGeom>
              <a:solidFill>
                <a:srgbClr val="00B0F0"/>
              </a:solidFill>
              <a:ln w="952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iBAE</a:t>
                </a: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矩形 38">
                <a:extLst>
                  <a:ext uri="{FF2B5EF4-FFF2-40B4-BE49-F238E27FC236}">
                    <a16:creationId xmlns:a16="http://schemas.microsoft.com/office/drawing/2014/main" id="{F39FA20B-C644-494D-8139-58C97E47E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9036" y="2824867"/>
                <a:ext cx="1955195" cy="30949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数据捕获</a:t>
                </a:r>
              </a:p>
            </p:txBody>
          </p:sp>
          <p:sp>
            <p:nvSpPr>
              <p:cNvPr id="185" name="矩形 39">
                <a:extLst>
                  <a:ext uri="{FF2B5EF4-FFF2-40B4-BE49-F238E27FC236}">
                    <a16:creationId xmlns:a16="http://schemas.microsoft.com/office/drawing/2014/main" id="{47A692A4-06B4-4FD3-9B89-4469F9199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4021" y="2824867"/>
                <a:ext cx="2158872" cy="309495"/>
              </a:xfrm>
              <a:prstGeom prst="rect">
                <a:avLst/>
              </a:prstGeom>
              <a:solidFill>
                <a:srgbClr val="00B0F0"/>
              </a:solidFill>
              <a:ln w="952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数据记录</a:t>
                </a:r>
              </a:p>
            </p:txBody>
          </p:sp>
        </p:grp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916647D6-81D7-47C0-AD75-310EC2489B59}"/>
                </a:ext>
              </a:extLst>
            </p:cNvPr>
            <p:cNvSpPr/>
            <p:nvPr/>
          </p:nvSpPr>
          <p:spPr bwMode="auto">
            <a:xfrm>
              <a:off x="352599" y="4635387"/>
              <a:ext cx="1535113" cy="2508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" name="标题 1">
            <a:extLst>
              <a:ext uri="{FF2B5EF4-FFF2-40B4-BE49-F238E27FC236}">
                <a16:creationId xmlns:a16="http://schemas.microsoft.com/office/drawing/2014/main" id="{A1BF9E0E-B986-349E-22C4-3575D51D93CD}"/>
              </a:ext>
            </a:extLst>
          </p:cNvPr>
          <p:cNvSpPr txBox="1">
            <a:spLocks/>
          </p:cNvSpPr>
          <p:nvPr/>
        </p:nvSpPr>
        <p:spPr>
          <a:xfrm>
            <a:off x="435007" y="0"/>
            <a:ext cx="9042400" cy="618565"/>
          </a:xfrm>
          <a:prstGeom prst="rect">
            <a:avLst/>
          </a:prstGeom>
        </p:spPr>
        <p:txBody>
          <a:bodyPr anchor="b" anchorCtr="0"/>
          <a:lstStyle>
            <a:lvl1pPr algn="l" eaLnBrk="0" hangingPunct="0">
              <a:lnSpc>
                <a:spcPct val="75000"/>
              </a:lnSpc>
              <a:defRPr sz="2000" i="0">
                <a:solidFill>
                  <a:srgbClr val="4521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eaLnBrk="0" hangingPunct="0">
              <a:lnSpc>
                <a:spcPct val="75000"/>
              </a:lnSpc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algn="l" eaLnBrk="0" hangingPunct="0">
              <a:lnSpc>
                <a:spcPct val="75000"/>
              </a:lnSpc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algn="l" eaLnBrk="0" hangingPunct="0">
              <a:lnSpc>
                <a:spcPct val="75000"/>
              </a:lnSpc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algn="l" eaLnBrk="0" hangingPunct="0">
              <a:lnSpc>
                <a:spcPct val="75000"/>
              </a:lnSpc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>
                <a:sym typeface="+mn-ea"/>
              </a:rPr>
              <a:t>智能化应用扩展</a:t>
            </a:r>
            <a:r>
              <a:rPr lang="en-US" altLang="zh-CN" dirty="0">
                <a:sym typeface="+mn-ea"/>
              </a:rPr>
              <a:t>-IBAE System</a:t>
            </a:r>
            <a:r>
              <a:rPr lang="zh-CN" altLang="en-US" dirty="0">
                <a:sym typeface="+mn-ea"/>
              </a:rPr>
              <a:t>架构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3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8802-B796-CCAB-9819-7DE26BA3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BAA08E6-54E4-A10F-456E-9694856DE1C0}"/>
              </a:ext>
            </a:extLst>
          </p:cNvPr>
          <p:cNvSpPr txBox="1"/>
          <p:nvPr/>
        </p:nvSpPr>
        <p:spPr>
          <a:xfrm>
            <a:off x="4926449" y="43137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F67E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推流架构方案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67E4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951A793-1FED-03E8-5ED0-838A5EBE1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509" y="10806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42FEE-AE48-4166-A06F-8F165E8AC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18" y="17549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AB436BB-BCE7-9720-C5AE-E256B1C5F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618" y="1754909"/>
          <a:ext cx="6019800" cy="313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845800" imgH="4286552" progId="Visio.Drawing.15">
                  <p:embed/>
                </p:oleObj>
              </mc:Choice>
              <mc:Fallback>
                <p:oleObj name="Visio" r:id="rId2" imgW="10845800" imgH="4286552" progId="Visio.Drawing.15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AB436BB-BCE7-9720-C5AE-E256B1C5F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18" y="1754909"/>
                        <a:ext cx="6019800" cy="313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993D203-253F-67DE-268E-95CD1525CC78}"/>
              </a:ext>
            </a:extLst>
          </p:cNvPr>
          <p:cNvSpPr txBox="1"/>
          <p:nvPr/>
        </p:nvSpPr>
        <p:spPr>
          <a:xfrm>
            <a:off x="7065818" y="1030839"/>
            <a:ext cx="4650509" cy="457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zh-CN" altLang="zh-CN" sz="1400" dirty="0"/>
              <a:t>宇高</a:t>
            </a:r>
            <a:r>
              <a:rPr lang="tr-TR" altLang="zh-CN" sz="1400" dirty="0"/>
              <a:t>IBAE</a:t>
            </a:r>
            <a:r>
              <a:rPr lang="zh-CN" altLang="zh-CN" sz="1400" dirty="0"/>
              <a:t>实推系统从</a:t>
            </a:r>
            <a:r>
              <a:rPr lang="tr-TR" altLang="zh-CN" sz="1400" dirty="0"/>
              <a:t>CTI</a:t>
            </a:r>
            <a:r>
              <a:rPr lang="zh-CN" altLang="zh-CN" sz="1400" dirty="0"/>
              <a:t>将分机号、</a:t>
            </a:r>
            <a:r>
              <a:rPr lang="tr-TR" altLang="zh-CN" sz="1400" dirty="0"/>
              <a:t>CallID</a:t>
            </a:r>
            <a:r>
              <a:rPr lang="zh-CN" altLang="zh-CN" sz="1400" dirty="0"/>
              <a:t>、</a:t>
            </a:r>
            <a:r>
              <a:rPr lang="tr-TR" altLang="zh-CN" sz="1400" dirty="0"/>
              <a:t>AgentID</a:t>
            </a:r>
            <a:r>
              <a:rPr lang="zh-CN" altLang="zh-CN" sz="1400" dirty="0"/>
              <a:t>等随录信息通过</a:t>
            </a:r>
            <a:r>
              <a:rPr lang="en-US" altLang="zh-CN" sz="1400" dirty="0"/>
              <a:t>AES</a:t>
            </a:r>
            <a:r>
              <a:rPr lang="zh-CN" altLang="zh-CN" sz="1400" dirty="0"/>
              <a:t>获得；</a:t>
            </a:r>
          </a:p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zh-CN" altLang="zh-CN" sz="1400" dirty="0"/>
              <a:t>宇高实推接到带有</a:t>
            </a:r>
            <a:r>
              <a:rPr lang="tr-TR" altLang="zh-CN" sz="1400" dirty="0"/>
              <a:t>CallID</a:t>
            </a:r>
            <a:r>
              <a:rPr lang="zh-CN" altLang="zh-CN" sz="1400" dirty="0"/>
              <a:t>的消息后，通过接口把接收到的业务信息和镜像获得的实时语音流（坐席及客户两路）发送给</a:t>
            </a:r>
            <a:r>
              <a:rPr lang="tr-TR" altLang="zh-CN" sz="1400" dirty="0"/>
              <a:t>ASR/</a:t>
            </a:r>
            <a:r>
              <a:rPr lang="zh-CN" altLang="zh-CN" sz="1400" dirty="0"/>
              <a:t>中台服务器；</a:t>
            </a:r>
          </a:p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tr-TR" altLang="zh-CN" sz="1400" dirty="0"/>
              <a:t>ASR</a:t>
            </a:r>
            <a:r>
              <a:rPr lang="zh-CN" altLang="zh-CN" sz="1400" dirty="0"/>
              <a:t>识别服务器将识别结果保存至</a:t>
            </a:r>
            <a:r>
              <a:rPr lang="tr-TR" altLang="zh-CN" sz="1400" dirty="0"/>
              <a:t>KAFKA</a:t>
            </a:r>
            <a:r>
              <a:rPr lang="zh-CN" altLang="zh-CN" sz="1400" dirty="0"/>
              <a:t>消息存储机制里；</a:t>
            </a:r>
          </a:p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zh-CN" altLang="zh-CN" sz="1400" dirty="0"/>
              <a:t>坐席助手调用</a:t>
            </a:r>
            <a:r>
              <a:rPr lang="tr-TR" altLang="zh-CN" sz="1400" dirty="0"/>
              <a:t>KAFKA</a:t>
            </a:r>
            <a:r>
              <a:rPr lang="zh-CN" altLang="zh-CN" sz="1400" dirty="0"/>
              <a:t>标准接口获取对应实时音转文结果；</a:t>
            </a:r>
          </a:p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tr-TR" altLang="zh-CN" sz="1400" dirty="0"/>
              <a:t>KAFKA</a:t>
            </a:r>
            <a:r>
              <a:rPr lang="zh-CN" altLang="zh-CN" sz="1400" dirty="0"/>
              <a:t>提供文本内容给坐席助手；</a:t>
            </a:r>
          </a:p>
          <a:p>
            <a:pPr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zh-CN" altLang="zh-CN" sz="1400" dirty="0"/>
              <a:t>注意：数据链路可以根据客户要求做适配改造。以现场环境和实际需求为准。如通过接口获取转写结果。</a:t>
            </a:r>
          </a:p>
        </p:txBody>
      </p:sp>
    </p:spTree>
    <p:extLst>
      <p:ext uri="{BB962C8B-B14F-4D97-AF65-F5344CB8AC3E}">
        <p14:creationId xmlns:p14="http://schemas.microsoft.com/office/powerpoint/2010/main" val="18338255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ee81192-470f-4b94-b56a-d6b21d090ad8"/>
  <p:tag name="COMMONDATA" val="eyJoZGlkIjoiNjUzZjRlODBiOWVmYzZmNDY5MjM3NzM3MTJkNThlY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1071</Words>
  <Application>Microsoft Office PowerPoint</Application>
  <PresentationFormat>宽屏</PresentationFormat>
  <Paragraphs>161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等线</vt:lpstr>
      <vt:lpstr>微软雅黑</vt:lpstr>
      <vt:lpstr>微软雅黑</vt:lpstr>
      <vt:lpstr>微软雅黑 Light</vt:lpstr>
      <vt:lpstr>Arial</vt:lpstr>
      <vt:lpstr>Calibri</vt:lpstr>
      <vt:lpstr>Courier New</vt:lpstr>
      <vt:lpstr>Impact</vt:lpstr>
      <vt:lpstr>Times New Roman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智能化应用扩展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莹</dc:creator>
  <cp:lastModifiedBy>高 鹏宇</cp:lastModifiedBy>
  <cp:revision>78</cp:revision>
  <dcterms:created xsi:type="dcterms:W3CDTF">2021-05-12T06:41:00Z</dcterms:created>
  <dcterms:modified xsi:type="dcterms:W3CDTF">2025-06-10T03:35:57Z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E5A732D48BC4460C8184E4A0928C8455</vt:lpwstr>
  </property>
  <property fmtid="{D5CDD505-2E9C-101B-9397-08002B2CF9AE}" pid="3" name="KSOProductBuildVer">
    <vt:lpwstr>2052-11.1.0.12358</vt:lpwstr>
  </property>
</Properties>
</file>